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3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rts/chart4.xml" ContentType="application/vnd.openxmlformats-officedocument.drawingml.chart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3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309" r:id="rId27"/>
    <p:sldId id="310" r:id="rId28"/>
    <p:sldId id="282" r:id="rId29"/>
    <p:sldId id="283" r:id="rId30"/>
    <p:sldId id="314" r:id="rId31"/>
    <p:sldId id="315" r:id="rId32"/>
    <p:sldId id="284" r:id="rId33"/>
    <p:sldId id="285" r:id="rId34"/>
    <p:sldId id="286" r:id="rId35"/>
    <p:sldId id="316" r:id="rId36"/>
    <p:sldId id="287" r:id="rId37"/>
    <p:sldId id="288" r:id="rId38"/>
    <p:sldId id="289" r:id="rId39"/>
    <p:sldId id="290" r:id="rId40"/>
    <p:sldId id="295" r:id="rId41"/>
    <p:sldId id="296" r:id="rId42"/>
    <p:sldId id="311" r:id="rId43"/>
    <p:sldId id="297" r:id="rId44"/>
    <p:sldId id="299" r:id="rId45"/>
    <p:sldId id="280" r:id="rId46"/>
    <p:sldId id="281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12" r:id="rId55"/>
    <p:sldId id="307" r:id="rId56"/>
    <p:sldId id="308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A362E5D-6600-9399-07CA-384F91873EAE}">
          <p14:sldIdLst>
            <p14:sldId id="256"/>
            <p14:sldId id="257"/>
          </p14:sldIdLst>
        </p14:section>
        <p14:section name="Part 1: Order Book Basics" id="{5C1AC57B-7EEA-B668-119E-32BF2D9DC6F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313"/>
            <p14:sldId id="269"/>
          </p14:sldIdLst>
        </p14:section>
        <p14:section name="Part 2: Cleaning &amp; Lookahead" id="{6A1E5267-20EC-1D88-3FF0-7C5B2E6A2B90}">
          <p14:sldIdLst>
            <p14:sldId id="270"/>
            <p14:sldId id="271"/>
            <p14:sldId id="272"/>
            <p14:sldId id="273"/>
            <p14:sldId id="274"/>
          </p14:sldIdLst>
        </p14:section>
        <p14:section name="Part 3: Feature Engineering" id="{F40F5F50-7186-D868-D116-E8644FFCDA5F}">
          <p14:sldIdLst>
            <p14:sldId id="275"/>
            <p14:sldId id="276"/>
            <p14:sldId id="277"/>
            <p14:sldId id="278"/>
            <p14:sldId id="279"/>
            <p14:sldId id="309"/>
            <p14:sldId id="310"/>
          </p14:sldIdLst>
        </p14:section>
        <p14:section name="Part 4: Classical ML" id="{C7C70D7C-43DE-301C-20DC-D8C9E61CCD95}">
          <p14:sldIdLst>
            <p14:sldId id="282"/>
            <p14:sldId id="283"/>
            <p14:sldId id="314"/>
            <p14:sldId id="315"/>
            <p14:sldId id="284"/>
            <p14:sldId id="285"/>
            <p14:sldId id="286"/>
            <p14:sldId id="316"/>
            <p14:sldId id="287"/>
            <p14:sldId id="288"/>
          </p14:sldIdLst>
        </p14:section>
        <p14:section name="Part 5: ARIMA &amp; GARCH" id="{8032F768-4E1B-0926-9A7B-AF0CD41A7B04}">
          <p14:sldIdLst>
            <p14:sldId id="289"/>
            <p14:sldId id="290"/>
            <p14:sldId id="295"/>
            <p14:sldId id="296"/>
            <p14:sldId id="311"/>
            <p14:sldId id="297"/>
          </p14:sldIdLst>
        </p14:section>
        <p14:section name="Part 6: Hybrid Model" id="{E18E7346-B47A-AAA1-54B7-354D069F07E2}">
          <p14:sldIdLst>
            <p14:sldId id="299"/>
            <p14:sldId id="280"/>
            <p14:sldId id="281"/>
            <p14:sldId id="300"/>
            <p14:sldId id="301"/>
            <p14:sldId id="302"/>
            <p14:sldId id="303"/>
            <p14:sldId id="304"/>
          </p14:sldIdLst>
        </p14:section>
        <p14:section name="Wrap-up" id="{F6A06B56-DAC4-8330-550D-EFC429727E93}">
          <p14:sldIdLst>
            <p14:sldId id="305"/>
            <p14:sldId id="306"/>
            <p14:sldId id="312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|rₜ| per second</c:v>
                </c:pt>
              </c:strCache>
            </c:strRef>
          </c:tx>
          <c:spPr>
            <a:ln w="15875">
              <a:solidFill>
                <a:srgbClr val="9C97E0"/>
              </a:solidFill>
            </a:ln>
          </c:spPr>
          <c:marker>
            <c:symbol val="none"/>
          </c:marker>
          <c:cat>
            <c:strRef>
              <c:f>Sheet1!$A$2:$A$601</c:f>
              <c:strCache>
                <c:ptCount val="6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</c:strCache>
            </c:strRef>
          </c:cat>
          <c:val>
            <c:numRef>
              <c:f>Sheet1!$B$2:$B$601</c:f>
              <c:numCache>
                <c:formatCode>General</c:formatCode>
                <c:ptCount val="600"/>
                <c:pt idx="0">
                  <c:v>0</c:v>
                </c:pt>
                <c:pt idx="1">
                  <c:v>1.0580000000000001</c:v>
                </c:pt>
                <c:pt idx="2">
                  <c:v>6.3E-2</c:v>
                </c:pt>
                <c:pt idx="3">
                  <c:v>3.6629999999999998</c:v>
                </c:pt>
                <c:pt idx="4">
                  <c:v>0.17399999999999999</c:v>
                </c:pt>
                <c:pt idx="5">
                  <c:v>0</c:v>
                </c:pt>
                <c:pt idx="6">
                  <c:v>0</c:v>
                </c:pt>
                <c:pt idx="7">
                  <c:v>0.29899999999999999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0.222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0.222</c:v>
                </c:pt>
                <c:pt idx="27">
                  <c:v>1.7999999999999999E-2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0.95399999999999996</c:v>
                </c:pt>
                <c:pt idx="33">
                  <c:v>0</c:v>
                </c:pt>
                <c:pt idx="34">
                  <c:v>0.97199999999999998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0.97199999999999998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0.97199999999999998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1.7999999999999999E-2</c:v>
                </c:pt>
                <c:pt idx="49">
                  <c:v>0</c:v>
                </c:pt>
                <c:pt idx="50">
                  <c:v>0</c:v>
                </c:pt>
                <c:pt idx="51">
                  <c:v>0.96299999999999997</c:v>
                </c:pt>
                <c:pt idx="52">
                  <c:v>0</c:v>
                </c:pt>
                <c:pt idx="53">
                  <c:v>1.0569999999999999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6.3440000000000003</c:v>
                </c:pt>
                <c:pt idx="60">
                  <c:v>0</c:v>
                </c:pt>
                <c:pt idx="61">
                  <c:v>0</c:v>
                </c:pt>
                <c:pt idx="62">
                  <c:v>0.17199999999999999</c:v>
                </c:pt>
                <c:pt idx="63">
                  <c:v>0.39400000000000002</c:v>
                </c:pt>
                <c:pt idx="64">
                  <c:v>7.0000000000000007E-2</c:v>
                </c:pt>
                <c:pt idx="65">
                  <c:v>0.56899999999999995</c:v>
                </c:pt>
                <c:pt idx="66">
                  <c:v>0</c:v>
                </c:pt>
                <c:pt idx="67">
                  <c:v>0</c:v>
                </c:pt>
                <c:pt idx="68">
                  <c:v>4.609</c:v>
                </c:pt>
                <c:pt idx="69">
                  <c:v>0.751</c:v>
                </c:pt>
                <c:pt idx="70">
                  <c:v>0.70599999999999996</c:v>
                </c:pt>
                <c:pt idx="71">
                  <c:v>1.2030000000000001</c:v>
                </c:pt>
                <c:pt idx="72">
                  <c:v>1.2150000000000001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1.458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0.38800000000000001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1.446</c:v>
                </c:pt>
                <c:pt idx="108">
                  <c:v>0.87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0.87</c:v>
                </c:pt>
                <c:pt idx="114">
                  <c:v>0.46500000000000002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0.7</c:v>
                </c:pt>
                <c:pt idx="119">
                  <c:v>0.47</c:v>
                </c:pt>
                <c:pt idx="120">
                  <c:v>0.47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0.38100000000000001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0.443</c:v>
                </c:pt>
                <c:pt idx="132">
                  <c:v>0</c:v>
                </c:pt>
                <c:pt idx="133">
                  <c:v>1.0029999999999999</c:v>
                </c:pt>
                <c:pt idx="134">
                  <c:v>6.2E-2</c:v>
                </c:pt>
                <c:pt idx="135">
                  <c:v>3.8980000000000001</c:v>
                </c:pt>
                <c:pt idx="136">
                  <c:v>2.573</c:v>
                </c:pt>
                <c:pt idx="137">
                  <c:v>0.51900000000000002</c:v>
                </c:pt>
                <c:pt idx="138">
                  <c:v>2.9910000000000001</c:v>
                </c:pt>
                <c:pt idx="139">
                  <c:v>2.79</c:v>
                </c:pt>
                <c:pt idx="140">
                  <c:v>0.51</c:v>
                </c:pt>
                <c:pt idx="141">
                  <c:v>5.4790000000000001</c:v>
                </c:pt>
                <c:pt idx="142">
                  <c:v>0</c:v>
                </c:pt>
                <c:pt idx="143">
                  <c:v>0</c:v>
                </c:pt>
                <c:pt idx="144">
                  <c:v>0.65400000000000003</c:v>
                </c:pt>
                <c:pt idx="145">
                  <c:v>0.42899999999999999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1.6639999999999999</c:v>
                </c:pt>
                <c:pt idx="152">
                  <c:v>0.35099999999999998</c:v>
                </c:pt>
                <c:pt idx="153">
                  <c:v>0</c:v>
                </c:pt>
                <c:pt idx="154">
                  <c:v>3.1E-2</c:v>
                </c:pt>
                <c:pt idx="155">
                  <c:v>0.90600000000000003</c:v>
                </c:pt>
                <c:pt idx="156">
                  <c:v>3.9279999999999999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3.504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1.7210000000000001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1.0960000000000001</c:v>
                </c:pt>
                <c:pt idx="171">
                  <c:v>0.36699999999999999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3.9660000000000002</c:v>
                </c:pt>
                <c:pt idx="176">
                  <c:v>3.9660000000000002</c:v>
                </c:pt>
                <c:pt idx="177">
                  <c:v>0</c:v>
                </c:pt>
                <c:pt idx="178">
                  <c:v>3.9660000000000002</c:v>
                </c:pt>
                <c:pt idx="179">
                  <c:v>3.9660000000000002</c:v>
                </c:pt>
                <c:pt idx="180">
                  <c:v>3.9660000000000002</c:v>
                </c:pt>
                <c:pt idx="181">
                  <c:v>0</c:v>
                </c:pt>
                <c:pt idx="182">
                  <c:v>0</c:v>
                </c:pt>
                <c:pt idx="183">
                  <c:v>3.157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3.157</c:v>
                </c:pt>
                <c:pt idx="191">
                  <c:v>3.169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3.169</c:v>
                </c:pt>
                <c:pt idx="198">
                  <c:v>0</c:v>
                </c:pt>
                <c:pt idx="199">
                  <c:v>3.169</c:v>
                </c:pt>
                <c:pt idx="200">
                  <c:v>1.427</c:v>
                </c:pt>
                <c:pt idx="201">
                  <c:v>0</c:v>
                </c:pt>
                <c:pt idx="202">
                  <c:v>0</c:v>
                </c:pt>
                <c:pt idx="203">
                  <c:v>1.427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3.3730000000000002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1.35</c:v>
                </c:pt>
                <c:pt idx="220">
                  <c:v>0</c:v>
                </c:pt>
                <c:pt idx="221">
                  <c:v>0.11899999999999999</c:v>
                </c:pt>
                <c:pt idx="222">
                  <c:v>0</c:v>
                </c:pt>
                <c:pt idx="223">
                  <c:v>0.42699999999999999</c:v>
                </c:pt>
                <c:pt idx="224">
                  <c:v>0.54600000000000004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0.11899999999999999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0.11899999999999999</c:v>
                </c:pt>
                <c:pt idx="236">
                  <c:v>0.54600000000000004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2.3039999999999998</c:v>
                </c:pt>
                <c:pt idx="241">
                  <c:v>0</c:v>
                </c:pt>
                <c:pt idx="242">
                  <c:v>0</c:v>
                </c:pt>
                <c:pt idx="243">
                  <c:v>1.758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0.54600000000000004</c:v>
                </c:pt>
                <c:pt idx="251">
                  <c:v>0.20399999999999999</c:v>
                </c:pt>
                <c:pt idx="252">
                  <c:v>0.223</c:v>
                </c:pt>
                <c:pt idx="253">
                  <c:v>0</c:v>
                </c:pt>
                <c:pt idx="254">
                  <c:v>0.11899999999999999</c:v>
                </c:pt>
                <c:pt idx="255">
                  <c:v>0</c:v>
                </c:pt>
                <c:pt idx="256">
                  <c:v>0.54600000000000004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1.9E-2</c:v>
                </c:pt>
                <c:pt idx="261">
                  <c:v>0.56499999999999995</c:v>
                </c:pt>
                <c:pt idx="262">
                  <c:v>0</c:v>
                </c:pt>
                <c:pt idx="263">
                  <c:v>0</c:v>
                </c:pt>
                <c:pt idx="264">
                  <c:v>0.11899999999999999</c:v>
                </c:pt>
                <c:pt idx="265">
                  <c:v>0</c:v>
                </c:pt>
                <c:pt idx="266">
                  <c:v>0.11899999999999999</c:v>
                </c:pt>
                <c:pt idx="267">
                  <c:v>0</c:v>
                </c:pt>
                <c:pt idx="268">
                  <c:v>0.54600000000000004</c:v>
                </c:pt>
                <c:pt idx="269">
                  <c:v>5.6000000000000001E-2</c:v>
                </c:pt>
                <c:pt idx="270">
                  <c:v>0</c:v>
                </c:pt>
                <c:pt idx="271">
                  <c:v>0</c:v>
                </c:pt>
                <c:pt idx="272">
                  <c:v>1.0269999999999999</c:v>
                </c:pt>
                <c:pt idx="273">
                  <c:v>1.7999999999999999E-2</c:v>
                </c:pt>
                <c:pt idx="274">
                  <c:v>0.28100000000000003</c:v>
                </c:pt>
                <c:pt idx="275">
                  <c:v>1.042</c:v>
                </c:pt>
                <c:pt idx="276">
                  <c:v>0.80300000000000005</c:v>
                </c:pt>
                <c:pt idx="277">
                  <c:v>1.9059999999999999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1.9059999999999999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0.55600000000000005</c:v>
                </c:pt>
                <c:pt idx="291">
                  <c:v>0.82899999999999996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3.343</c:v>
                </c:pt>
                <c:pt idx="299">
                  <c:v>2.15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2.15</c:v>
                </c:pt>
                <c:pt idx="306">
                  <c:v>0</c:v>
                </c:pt>
                <c:pt idx="307">
                  <c:v>0</c:v>
                </c:pt>
                <c:pt idx="308">
                  <c:v>2.15</c:v>
                </c:pt>
                <c:pt idx="309">
                  <c:v>0</c:v>
                </c:pt>
                <c:pt idx="310">
                  <c:v>0</c:v>
                </c:pt>
                <c:pt idx="311">
                  <c:v>2.15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2.1349999999999998</c:v>
                </c:pt>
                <c:pt idx="317">
                  <c:v>0</c:v>
                </c:pt>
                <c:pt idx="318">
                  <c:v>0</c:v>
                </c:pt>
                <c:pt idx="319">
                  <c:v>2.1349999999999998</c:v>
                </c:pt>
                <c:pt idx="320">
                  <c:v>0</c:v>
                </c:pt>
                <c:pt idx="321">
                  <c:v>2.1349999999999998</c:v>
                </c:pt>
                <c:pt idx="322">
                  <c:v>2.1349999999999998</c:v>
                </c:pt>
                <c:pt idx="323">
                  <c:v>1.6970000000000001</c:v>
                </c:pt>
                <c:pt idx="324">
                  <c:v>1.069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0.25800000000000001</c:v>
                </c:pt>
                <c:pt idx="340">
                  <c:v>0</c:v>
                </c:pt>
                <c:pt idx="341">
                  <c:v>1.089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1.089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1.042</c:v>
                </c:pt>
                <c:pt idx="370">
                  <c:v>0</c:v>
                </c:pt>
                <c:pt idx="371">
                  <c:v>1.1160000000000001</c:v>
                </c:pt>
                <c:pt idx="372">
                  <c:v>1.2190000000000001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1.044</c:v>
                </c:pt>
                <c:pt idx="397">
                  <c:v>1.044</c:v>
                </c:pt>
                <c:pt idx="398">
                  <c:v>1.044</c:v>
                </c:pt>
                <c:pt idx="399">
                  <c:v>0</c:v>
                </c:pt>
                <c:pt idx="400">
                  <c:v>0</c:v>
                </c:pt>
                <c:pt idx="401">
                  <c:v>0.113</c:v>
                </c:pt>
                <c:pt idx="402">
                  <c:v>1.0329999999999999</c:v>
                </c:pt>
                <c:pt idx="403">
                  <c:v>1.0329999999999999</c:v>
                </c:pt>
                <c:pt idx="404">
                  <c:v>0</c:v>
                </c:pt>
                <c:pt idx="405">
                  <c:v>1.0329999999999999</c:v>
                </c:pt>
                <c:pt idx="406">
                  <c:v>0</c:v>
                </c:pt>
                <c:pt idx="407">
                  <c:v>0.52700000000000002</c:v>
                </c:pt>
                <c:pt idx="408">
                  <c:v>0.19400000000000001</c:v>
                </c:pt>
                <c:pt idx="409">
                  <c:v>0</c:v>
                </c:pt>
                <c:pt idx="410">
                  <c:v>1.0269999999999999</c:v>
                </c:pt>
                <c:pt idx="411">
                  <c:v>0</c:v>
                </c:pt>
                <c:pt idx="412">
                  <c:v>0</c:v>
                </c:pt>
                <c:pt idx="413">
                  <c:v>1.0269999999999999</c:v>
                </c:pt>
                <c:pt idx="414">
                  <c:v>1.0269999999999999</c:v>
                </c:pt>
                <c:pt idx="415">
                  <c:v>1.286</c:v>
                </c:pt>
                <c:pt idx="416">
                  <c:v>0</c:v>
                </c:pt>
                <c:pt idx="417">
                  <c:v>0</c:v>
                </c:pt>
                <c:pt idx="418">
                  <c:v>1.843</c:v>
                </c:pt>
                <c:pt idx="419">
                  <c:v>0</c:v>
                </c:pt>
                <c:pt idx="420">
                  <c:v>0</c:v>
                </c:pt>
                <c:pt idx="421">
                  <c:v>0.70499999999999996</c:v>
                </c:pt>
                <c:pt idx="422">
                  <c:v>1.0960000000000001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4.4050000000000002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8.4000000000000005E-2</c:v>
                </c:pt>
                <c:pt idx="447">
                  <c:v>2.8050000000000002</c:v>
                </c:pt>
                <c:pt idx="448">
                  <c:v>0</c:v>
                </c:pt>
                <c:pt idx="449">
                  <c:v>0</c:v>
                </c:pt>
                <c:pt idx="450">
                  <c:v>2.6110000000000002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6.2E-2</c:v>
                </c:pt>
                <c:pt idx="455">
                  <c:v>0</c:v>
                </c:pt>
                <c:pt idx="456">
                  <c:v>0</c:v>
                </c:pt>
                <c:pt idx="457">
                  <c:v>1.157</c:v>
                </c:pt>
                <c:pt idx="458">
                  <c:v>0</c:v>
                </c:pt>
                <c:pt idx="459">
                  <c:v>0</c:v>
                </c:pt>
                <c:pt idx="460">
                  <c:v>1.0960000000000001</c:v>
                </c:pt>
                <c:pt idx="461">
                  <c:v>0</c:v>
                </c:pt>
                <c:pt idx="462">
                  <c:v>1.7190000000000001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0.624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6.75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0.499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1.25</c:v>
                </c:pt>
                <c:pt idx="493">
                  <c:v>0</c:v>
                </c:pt>
                <c:pt idx="494">
                  <c:v>0</c:v>
                </c:pt>
                <c:pt idx="495">
                  <c:v>1.006</c:v>
                </c:pt>
                <c:pt idx="496">
                  <c:v>1.157</c:v>
                </c:pt>
                <c:pt idx="497">
                  <c:v>1.0289999999999999</c:v>
                </c:pt>
                <c:pt idx="498">
                  <c:v>0</c:v>
                </c:pt>
                <c:pt idx="499">
                  <c:v>0</c:v>
                </c:pt>
                <c:pt idx="500">
                  <c:v>1.0289999999999999</c:v>
                </c:pt>
                <c:pt idx="501">
                  <c:v>1.0289999999999999</c:v>
                </c:pt>
                <c:pt idx="502">
                  <c:v>0</c:v>
                </c:pt>
                <c:pt idx="503">
                  <c:v>0.313</c:v>
                </c:pt>
                <c:pt idx="504">
                  <c:v>0</c:v>
                </c:pt>
                <c:pt idx="505">
                  <c:v>1.028</c:v>
                </c:pt>
                <c:pt idx="506">
                  <c:v>0</c:v>
                </c:pt>
                <c:pt idx="507">
                  <c:v>1.028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0.57799999999999996</c:v>
                </c:pt>
                <c:pt idx="516">
                  <c:v>0</c:v>
                </c:pt>
                <c:pt idx="517">
                  <c:v>0.61699999999999999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1.3</c:v>
                </c:pt>
                <c:pt idx="523">
                  <c:v>0</c:v>
                </c:pt>
                <c:pt idx="524">
                  <c:v>1.3</c:v>
                </c:pt>
                <c:pt idx="525">
                  <c:v>1.3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7.7190000000000003</c:v>
                </c:pt>
                <c:pt idx="535">
                  <c:v>0</c:v>
                </c:pt>
                <c:pt idx="536">
                  <c:v>0</c:v>
                </c:pt>
                <c:pt idx="537">
                  <c:v>3.16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3.1139999999999999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0.91</c:v>
                </c:pt>
                <c:pt idx="548">
                  <c:v>0.91</c:v>
                </c:pt>
                <c:pt idx="549">
                  <c:v>0</c:v>
                </c:pt>
                <c:pt idx="550">
                  <c:v>0</c:v>
                </c:pt>
                <c:pt idx="551">
                  <c:v>1.82</c:v>
                </c:pt>
                <c:pt idx="552">
                  <c:v>2.1509999999999998</c:v>
                </c:pt>
                <c:pt idx="553">
                  <c:v>0</c:v>
                </c:pt>
                <c:pt idx="554">
                  <c:v>5.0730000000000004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3.032</c:v>
                </c:pt>
                <c:pt idx="559">
                  <c:v>1.389</c:v>
                </c:pt>
                <c:pt idx="560">
                  <c:v>0.121</c:v>
                </c:pt>
                <c:pt idx="561">
                  <c:v>1.3480000000000001</c:v>
                </c:pt>
                <c:pt idx="562">
                  <c:v>1.3480000000000001</c:v>
                </c:pt>
                <c:pt idx="563">
                  <c:v>0</c:v>
                </c:pt>
                <c:pt idx="564">
                  <c:v>0.66800000000000004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0.223</c:v>
                </c:pt>
                <c:pt idx="569">
                  <c:v>0.223</c:v>
                </c:pt>
                <c:pt idx="570">
                  <c:v>0</c:v>
                </c:pt>
                <c:pt idx="571">
                  <c:v>0.06</c:v>
                </c:pt>
                <c:pt idx="572">
                  <c:v>0</c:v>
                </c:pt>
                <c:pt idx="573">
                  <c:v>0</c:v>
                </c:pt>
                <c:pt idx="574">
                  <c:v>1.012</c:v>
                </c:pt>
                <c:pt idx="575">
                  <c:v>0.67100000000000004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0.77600000000000002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8.2000000000000003E-2</c:v>
                </c:pt>
                <c:pt idx="585">
                  <c:v>0.85699999999999998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9F-4319-80B5-F03E3FE475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EWMA vol, halflife 30s</c:v>
                </c:pt>
              </c:strCache>
            </c:strRef>
          </c:tx>
          <c:spPr>
            <a:ln w="34925">
              <a:solidFill>
                <a:srgbClr val="F59E0B"/>
              </a:solidFill>
            </a:ln>
          </c:spPr>
          <c:marker>
            <c:symbol val="none"/>
          </c:marker>
          <c:cat>
            <c:strRef>
              <c:f>Sheet1!$A$2:$A$601</c:f>
              <c:strCache>
                <c:ptCount val="6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  <c:pt idx="361">
                  <c:v>361</c:v>
                </c:pt>
                <c:pt idx="362">
                  <c:v>362</c:v>
                </c:pt>
                <c:pt idx="363">
                  <c:v>363</c:v>
                </c:pt>
                <c:pt idx="364">
                  <c:v>364</c:v>
                </c:pt>
                <c:pt idx="365">
                  <c:v>365</c:v>
                </c:pt>
                <c:pt idx="366">
                  <c:v>366</c:v>
                </c:pt>
                <c:pt idx="367">
                  <c:v>367</c:v>
                </c:pt>
                <c:pt idx="368">
                  <c:v>368</c:v>
                </c:pt>
                <c:pt idx="369">
                  <c:v>369</c:v>
                </c:pt>
                <c:pt idx="370">
                  <c:v>370</c:v>
                </c:pt>
                <c:pt idx="371">
                  <c:v>371</c:v>
                </c:pt>
                <c:pt idx="372">
                  <c:v>372</c:v>
                </c:pt>
                <c:pt idx="373">
                  <c:v>373</c:v>
                </c:pt>
                <c:pt idx="374">
                  <c:v>374</c:v>
                </c:pt>
                <c:pt idx="375">
                  <c:v>375</c:v>
                </c:pt>
                <c:pt idx="376">
                  <c:v>376</c:v>
                </c:pt>
                <c:pt idx="377">
                  <c:v>377</c:v>
                </c:pt>
                <c:pt idx="378">
                  <c:v>378</c:v>
                </c:pt>
                <c:pt idx="379">
                  <c:v>379</c:v>
                </c:pt>
                <c:pt idx="380">
                  <c:v>380</c:v>
                </c:pt>
                <c:pt idx="381">
                  <c:v>381</c:v>
                </c:pt>
                <c:pt idx="382">
                  <c:v>382</c:v>
                </c:pt>
                <c:pt idx="383">
                  <c:v>383</c:v>
                </c:pt>
                <c:pt idx="384">
                  <c:v>384</c:v>
                </c:pt>
                <c:pt idx="385">
                  <c:v>385</c:v>
                </c:pt>
                <c:pt idx="386">
                  <c:v>386</c:v>
                </c:pt>
                <c:pt idx="387">
                  <c:v>387</c:v>
                </c:pt>
                <c:pt idx="388">
                  <c:v>388</c:v>
                </c:pt>
                <c:pt idx="389">
                  <c:v>389</c:v>
                </c:pt>
                <c:pt idx="390">
                  <c:v>390</c:v>
                </c:pt>
                <c:pt idx="391">
                  <c:v>391</c:v>
                </c:pt>
                <c:pt idx="392">
                  <c:v>392</c:v>
                </c:pt>
                <c:pt idx="393">
                  <c:v>393</c:v>
                </c:pt>
                <c:pt idx="394">
                  <c:v>394</c:v>
                </c:pt>
                <c:pt idx="395">
                  <c:v>395</c:v>
                </c:pt>
                <c:pt idx="396">
                  <c:v>396</c:v>
                </c:pt>
                <c:pt idx="397">
                  <c:v>397</c:v>
                </c:pt>
                <c:pt idx="398">
                  <c:v>398</c:v>
                </c:pt>
                <c:pt idx="399">
                  <c:v>399</c:v>
                </c:pt>
                <c:pt idx="400">
                  <c:v>400</c:v>
                </c:pt>
                <c:pt idx="401">
                  <c:v>401</c:v>
                </c:pt>
                <c:pt idx="402">
                  <c:v>402</c:v>
                </c:pt>
                <c:pt idx="403">
                  <c:v>403</c:v>
                </c:pt>
                <c:pt idx="404">
                  <c:v>404</c:v>
                </c:pt>
                <c:pt idx="405">
                  <c:v>405</c:v>
                </c:pt>
                <c:pt idx="406">
                  <c:v>406</c:v>
                </c:pt>
                <c:pt idx="407">
                  <c:v>407</c:v>
                </c:pt>
                <c:pt idx="408">
                  <c:v>408</c:v>
                </c:pt>
                <c:pt idx="409">
                  <c:v>409</c:v>
                </c:pt>
                <c:pt idx="410">
                  <c:v>410</c:v>
                </c:pt>
                <c:pt idx="411">
                  <c:v>411</c:v>
                </c:pt>
                <c:pt idx="412">
                  <c:v>412</c:v>
                </c:pt>
                <c:pt idx="413">
                  <c:v>413</c:v>
                </c:pt>
                <c:pt idx="414">
                  <c:v>414</c:v>
                </c:pt>
                <c:pt idx="415">
                  <c:v>415</c:v>
                </c:pt>
                <c:pt idx="416">
                  <c:v>416</c:v>
                </c:pt>
                <c:pt idx="417">
                  <c:v>417</c:v>
                </c:pt>
                <c:pt idx="418">
                  <c:v>418</c:v>
                </c:pt>
                <c:pt idx="419">
                  <c:v>419</c:v>
                </c:pt>
                <c:pt idx="420">
                  <c:v>420</c:v>
                </c:pt>
                <c:pt idx="421">
                  <c:v>421</c:v>
                </c:pt>
                <c:pt idx="422">
                  <c:v>422</c:v>
                </c:pt>
                <c:pt idx="423">
                  <c:v>423</c:v>
                </c:pt>
                <c:pt idx="424">
                  <c:v>424</c:v>
                </c:pt>
                <c:pt idx="425">
                  <c:v>425</c:v>
                </c:pt>
                <c:pt idx="426">
                  <c:v>426</c:v>
                </c:pt>
                <c:pt idx="427">
                  <c:v>427</c:v>
                </c:pt>
                <c:pt idx="428">
                  <c:v>428</c:v>
                </c:pt>
                <c:pt idx="429">
                  <c:v>429</c:v>
                </c:pt>
                <c:pt idx="430">
                  <c:v>430</c:v>
                </c:pt>
                <c:pt idx="431">
                  <c:v>431</c:v>
                </c:pt>
                <c:pt idx="432">
                  <c:v>432</c:v>
                </c:pt>
                <c:pt idx="433">
                  <c:v>433</c:v>
                </c:pt>
                <c:pt idx="434">
                  <c:v>434</c:v>
                </c:pt>
                <c:pt idx="435">
                  <c:v>435</c:v>
                </c:pt>
                <c:pt idx="436">
                  <c:v>436</c:v>
                </c:pt>
                <c:pt idx="437">
                  <c:v>437</c:v>
                </c:pt>
                <c:pt idx="438">
                  <c:v>438</c:v>
                </c:pt>
                <c:pt idx="439">
                  <c:v>439</c:v>
                </c:pt>
                <c:pt idx="440">
                  <c:v>440</c:v>
                </c:pt>
                <c:pt idx="441">
                  <c:v>441</c:v>
                </c:pt>
                <c:pt idx="442">
                  <c:v>442</c:v>
                </c:pt>
                <c:pt idx="443">
                  <c:v>443</c:v>
                </c:pt>
                <c:pt idx="444">
                  <c:v>444</c:v>
                </c:pt>
                <c:pt idx="445">
                  <c:v>445</c:v>
                </c:pt>
                <c:pt idx="446">
                  <c:v>446</c:v>
                </c:pt>
                <c:pt idx="447">
                  <c:v>447</c:v>
                </c:pt>
                <c:pt idx="448">
                  <c:v>448</c:v>
                </c:pt>
                <c:pt idx="449">
                  <c:v>449</c:v>
                </c:pt>
                <c:pt idx="450">
                  <c:v>450</c:v>
                </c:pt>
                <c:pt idx="451">
                  <c:v>451</c:v>
                </c:pt>
                <c:pt idx="452">
                  <c:v>452</c:v>
                </c:pt>
                <c:pt idx="453">
                  <c:v>453</c:v>
                </c:pt>
                <c:pt idx="454">
                  <c:v>454</c:v>
                </c:pt>
                <c:pt idx="455">
                  <c:v>455</c:v>
                </c:pt>
                <c:pt idx="456">
                  <c:v>456</c:v>
                </c:pt>
                <c:pt idx="457">
                  <c:v>457</c:v>
                </c:pt>
                <c:pt idx="458">
                  <c:v>458</c:v>
                </c:pt>
                <c:pt idx="459">
                  <c:v>459</c:v>
                </c:pt>
                <c:pt idx="460">
                  <c:v>460</c:v>
                </c:pt>
                <c:pt idx="461">
                  <c:v>461</c:v>
                </c:pt>
                <c:pt idx="462">
                  <c:v>462</c:v>
                </c:pt>
                <c:pt idx="463">
                  <c:v>463</c:v>
                </c:pt>
                <c:pt idx="464">
                  <c:v>464</c:v>
                </c:pt>
                <c:pt idx="465">
                  <c:v>465</c:v>
                </c:pt>
                <c:pt idx="466">
                  <c:v>466</c:v>
                </c:pt>
                <c:pt idx="467">
                  <c:v>467</c:v>
                </c:pt>
                <c:pt idx="468">
                  <c:v>468</c:v>
                </c:pt>
                <c:pt idx="469">
                  <c:v>469</c:v>
                </c:pt>
                <c:pt idx="470">
                  <c:v>470</c:v>
                </c:pt>
                <c:pt idx="471">
                  <c:v>471</c:v>
                </c:pt>
                <c:pt idx="472">
                  <c:v>472</c:v>
                </c:pt>
                <c:pt idx="473">
                  <c:v>473</c:v>
                </c:pt>
                <c:pt idx="474">
                  <c:v>474</c:v>
                </c:pt>
                <c:pt idx="475">
                  <c:v>475</c:v>
                </c:pt>
                <c:pt idx="476">
                  <c:v>476</c:v>
                </c:pt>
                <c:pt idx="477">
                  <c:v>477</c:v>
                </c:pt>
                <c:pt idx="478">
                  <c:v>478</c:v>
                </c:pt>
                <c:pt idx="479">
                  <c:v>479</c:v>
                </c:pt>
                <c:pt idx="480">
                  <c:v>480</c:v>
                </c:pt>
                <c:pt idx="481">
                  <c:v>481</c:v>
                </c:pt>
                <c:pt idx="482">
                  <c:v>482</c:v>
                </c:pt>
                <c:pt idx="483">
                  <c:v>483</c:v>
                </c:pt>
                <c:pt idx="484">
                  <c:v>484</c:v>
                </c:pt>
                <c:pt idx="485">
                  <c:v>485</c:v>
                </c:pt>
                <c:pt idx="486">
                  <c:v>486</c:v>
                </c:pt>
                <c:pt idx="487">
                  <c:v>487</c:v>
                </c:pt>
                <c:pt idx="488">
                  <c:v>488</c:v>
                </c:pt>
                <c:pt idx="489">
                  <c:v>489</c:v>
                </c:pt>
                <c:pt idx="490">
                  <c:v>490</c:v>
                </c:pt>
                <c:pt idx="491">
                  <c:v>491</c:v>
                </c:pt>
                <c:pt idx="492">
                  <c:v>492</c:v>
                </c:pt>
                <c:pt idx="493">
                  <c:v>493</c:v>
                </c:pt>
                <c:pt idx="494">
                  <c:v>494</c:v>
                </c:pt>
                <c:pt idx="495">
                  <c:v>495</c:v>
                </c:pt>
                <c:pt idx="496">
                  <c:v>496</c:v>
                </c:pt>
                <c:pt idx="497">
                  <c:v>497</c:v>
                </c:pt>
                <c:pt idx="498">
                  <c:v>498</c:v>
                </c:pt>
                <c:pt idx="499">
                  <c:v>499</c:v>
                </c:pt>
                <c:pt idx="500">
                  <c:v>500</c:v>
                </c:pt>
                <c:pt idx="501">
                  <c:v>501</c:v>
                </c:pt>
                <c:pt idx="502">
                  <c:v>502</c:v>
                </c:pt>
                <c:pt idx="503">
                  <c:v>503</c:v>
                </c:pt>
                <c:pt idx="504">
                  <c:v>504</c:v>
                </c:pt>
                <c:pt idx="505">
                  <c:v>505</c:v>
                </c:pt>
                <c:pt idx="506">
                  <c:v>506</c:v>
                </c:pt>
                <c:pt idx="507">
                  <c:v>507</c:v>
                </c:pt>
                <c:pt idx="508">
                  <c:v>508</c:v>
                </c:pt>
                <c:pt idx="509">
                  <c:v>509</c:v>
                </c:pt>
                <c:pt idx="510">
                  <c:v>510</c:v>
                </c:pt>
                <c:pt idx="511">
                  <c:v>511</c:v>
                </c:pt>
                <c:pt idx="512">
                  <c:v>512</c:v>
                </c:pt>
                <c:pt idx="513">
                  <c:v>513</c:v>
                </c:pt>
                <c:pt idx="514">
                  <c:v>514</c:v>
                </c:pt>
                <c:pt idx="515">
                  <c:v>515</c:v>
                </c:pt>
                <c:pt idx="516">
                  <c:v>516</c:v>
                </c:pt>
                <c:pt idx="517">
                  <c:v>517</c:v>
                </c:pt>
                <c:pt idx="518">
                  <c:v>518</c:v>
                </c:pt>
                <c:pt idx="519">
                  <c:v>519</c:v>
                </c:pt>
                <c:pt idx="520">
                  <c:v>520</c:v>
                </c:pt>
                <c:pt idx="521">
                  <c:v>521</c:v>
                </c:pt>
                <c:pt idx="522">
                  <c:v>522</c:v>
                </c:pt>
                <c:pt idx="523">
                  <c:v>523</c:v>
                </c:pt>
                <c:pt idx="524">
                  <c:v>524</c:v>
                </c:pt>
                <c:pt idx="525">
                  <c:v>525</c:v>
                </c:pt>
                <c:pt idx="526">
                  <c:v>526</c:v>
                </c:pt>
                <c:pt idx="527">
                  <c:v>527</c:v>
                </c:pt>
                <c:pt idx="528">
                  <c:v>528</c:v>
                </c:pt>
                <c:pt idx="529">
                  <c:v>529</c:v>
                </c:pt>
                <c:pt idx="530">
                  <c:v>530</c:v>
                </c:pt>
                <c:pt idx="531">
                  <c:v>531</c:v>
                </c:pt>
                <c:pt idx="532">
                  <c:v>532</c:v>
                </c:pt>
                <c:pt idx="533">
                  <c:v>533</c:v>
                </c:pt>
                <c:pt idx="534">
                  <c:v>534</c:v>
                </c:pt>
                <c:pt idx="535">
                  <c:v>535</c:v>
                </c:pt>
                <c:pt idx="536">
                  <c:v>536</c:v>
                </c:pt>
                <c:pt idx="537">
                  <c:v>537</c:v>
                </c:pt>
                <c:pt idx="538">
                  <c:v>538</c:v>
                </c:pt>
                <c:pt idx="539">
                  <c:v>539</c:v>
                </c:pt>
                <c:pt idx="540">
                  <c:v>540</c:v>
                </c:pt>
                <c:pt idx="541">
                  <c:v>541</c:v>
                </c:pt>
                <c:pt idx="542">
                  <c:v>542</c:v>
                </c:pt>
                <c:pt idx="543">
                  <c:v>543</c:v>
                </c:pt>
                <c:pt idx="544">
                  <c:v>544</c:v>
                </c:pt>
                <c:pt idx="545">
                  <c:v>545</c:v>
                </c:pt>
                <c:pt idx="546">
                  <c:v>546</c:v>
                </c:pt>
                <c:pt idx="547">
                  <c:v>547</c:v>
                </c:pt>
                <c:pt idx="548">
                  <c:v>548</c:v>
                </c:pt>
                <c:pt idx="549">
                  <c:v>549</c:v>
                </c:pt>
                <c:pt idx="550">
                  <c:v>550</c:v>
                </c:pt>
                <c:pt idx="551">
                  <c:v>551</c:v>
                </c:pt>
                <c:pt idx="552">
                  <c:v>552</c:v>
                </c:pt>
                <c:pt idx="553">
                  <c:v>553</c:v>
                </c:pt>
                <c:pt idx="554">
                  <c:v>554</c:v>
                </c:pt>
                <c:pt idx="555">
                  <c:v>555</c:v>
                </c:pt>
                <c:pt idx="556">
                  <c:v>556</c:v>
                </c:pt>
                <c:pt idx="557">
                  <c:v>557</c:v>
                </c:pt>
                <c:pt idx="558">
                  <c:v>558</c:v>
                </c:pt>
                <c:pt idx="559">
                  <c:v>559</c:v>
                </c:pt>
                <c:pt idx="560">
                  <c:v>560</c:v>
                </c:pt>
                <c:pt idx="561">
                  <c:v>561</c:v>
                </c:pt>
                <c:pt idx="562">
                  <c:v>562</c:v>
                </c:pt>
                <c:pt idx="563">
                  <c:v>563</c:v>
                </c:pt>
                <c:pt idx="564">
                  <c:v>564</c:v>
                </c:pt>
                <c:pt idx="565">
                  <c:v>565</c:v>
                </c:pt>
                <c:pt idx="566">
                  <c:v>566</c:v>
                </c:pt>
                <c:pt idx="567">
                  <c:v>567</c:v>
                </c:pt>
                <c:pt idx="568">
                  <c:v>568</c:v>
                </c:pt>
                <c:pt idx="569">
                  <c:v>569</c:v>
                </c:pt>
                <c:pt idx="570">
                  <c:v>570</c:v>
                </c:pt>
                <c:pt idx="571">
                  <c:v>571</c:v>
                </c:pt>
                <c:pt idx="572">
                  <c:v>572</c:v>
                </c:pt>
                <c:pt idx="573">
                  <c:v>573</c:v>
                </c:pt>
                <c:pt idx="574">
                  <c:v>574</c:v>
                </c:pt>
                <c:pt idx="575">
                  <c:v>575</c:v>
                </c:pt>
                <c:pt idx="576">
                  <c:v>576</c:v>
                </c:pt>
                <c:pt idx="577">
                  <c:v>577</c:v>
                </c:pt>
                <c:pt idx="578">
                  <c:v>578</c:v>
                </c:pt>
                <c:pt idx="579">
                  <c:v>579</c:v>
                </c:pt>
                <c:pt idx="580">
                  <c:v>580</c:v>
                </c:pt>
                <c:pt idx="581">
                  <c:v>581</c:v>
                </c:pt>
                <c:pt idx="582">
                  <c:v>582</c:v>
                </c:pt>
                <c:pt idx="583">
                  <c:v>583</c:v>
                </c:pt>
                <c:pt idx="584">
                  <c:v>584</c:v>
                </c:pt>
                <c:pt idx="585">
                  <c:v>585</c:v>
                </c:pt>
                <c:pt idx="586">
                  <c:v>586</c:v>
                </c:pt>
                <c:pt idx="587">
                  <c:v>587</c:v>
                </c:pt>
                <c:pt idx="588">
                  <c:v>588</c:v>
                </c:pt>
                <c:pt idx="589">
                  <c:v>589</c:v>
                </c:pt>
                <c:pt idx="590">
                  <c:v>590</c:v>
                </c:pt>
                <c:pt idx="591">
                  <c:v>591</c:v>
                </c:pt>
                <c:pt idx="592">
                  <c:v>592</c:v>
                </c:pt>
                <c:pt idx="593">
                  <c:v>593</c:v>
                </c:pt>
                <c:pt idx="594">
                  <c:v>594</c:v>
                </c:pt>
                <c:pt idx="595">
                  <c:v>595</c:v>
                </c:pt>
                <c:pt idx="596">
                  <c:v>596</c:v>
                </c:pt>
                <c:pt idx="597">
                  <c:v>597</c:v>
                </c:pt>
                <c:pt idx="598">
                  <c:v>598</c:v>
                </c:pt>
                <c:pt idx="599">
                  <c:v>599</c:v>
                </c:pt>
              </c:strCache>
            </c:strRef>
          </c:cat>
          <c:val>
            <c:numRef>
              <c:f>Sheet1!$C$2:$C$601</c:f>
              <c:numCache>
                <c:formatCode>General</c:formatCode>
                <c:ptCount val="600"/>
                <c:pt idx="0">
                  <c:v>0</c:v>
                </c:pt>
                <c:pt idx="1">
                  <c:v>0.16</c:v>
                </c:pt>
                <c:pt idx="2">
                  <c:v>0.158</c:v>
                </c:pt>
                <c:pt idx="3">
                  <c:v>0.57499999999999996</c:v>
                </c:pt>
                <c:pt idx="4">
                  <c:v>0.56899999999999995</c:v>
                </c:pt>
                <c:pt idx="5">
                  <c:v>0.56299999999999994</c:v>
                </c:pt>
                <c:pt idx="6">
                  <c:v>0.55600000000000005</c:v>
                </c:pt>
                <c:pt idx="7">
                  <c:v>0.55200000000000005</c:v>
                </c:pt>
                <c:pt idx="8">
                  <c:v>0.54500000000000004</c:v>
                </c:pt>
                <c:pt idx="9">
                  <c:v>0.53900000000000003</c:v>
                </c:pt>
                <c:pt idx="10">
                  <c:v>0.53300000000000003</c:v>
                </c:pt>
                <c:pt idx="11">
                  <c:v>0.52700000000000002</c:v>
                </c:pt>
                <c:pt idx="12">
                  <c:v>0.52100000000000002</c:v>
                </c:pt>
                <c:pt idx="13">
                  <c:v>0.51500000000000001</c:v>
                </c:pt>
                <c:pt idx="14">
                  <c:v>0.51</c:v>
                </c:pt>
                <c:pt idx="15">
                  <c:v>0.504</c:v>
                </c:pt>
                <c:pt idx="16">
                  <c:v>0.498</c:v>
                </c:pt>
                <c:pt idx="17">
                  <c:v>0.49299999999999999</c:v>
                </c:pt>
                <c:pt idx="18">
                  <c:v>0.48699999999999999</c:v>
                </c:pt>
                <c:pt idx="19">
                  <c:v>0.48099999999999998</c:v>
                </c:pt>
                <c:pt idx="20">
                  <c:v>0.47599999999999998</c:v>
                </c:pt>
                <c:pt idx="21">
                  <c:v>0.47</c:v>
                </c:pt>
                <c:pt idx="22">
                  <c:v>0.46500000000000002</c:v>
                </c:pt>
                <c:pt idx="23">
                  <c:v>0.46</c:v>
                </c:pt>
                <c:pt idx="24">
                  <c:v>0.45400000000000001</c:v>
                </c:pt>
                <c:pt idx="25">
                  <c:v>0.44900000000000001</c:v>
                </c:pt>
                <c:pt idx="26">
                  <c:v>0.44500000000000001</c:v>
                </c:pt>
                <c:pt idx="27">
                  <c:v>0.44</c:v>
                </c:pt>
                <c:pt idx="28">
                  <c:v>0.435</c:v>
                </c:pt>
                <c:pt idx="29">
                  <c:v>0.43</c:v>
                </c:pt>
                <c:pt idx="30">
                  <c:v>0.42499999999999999</c:v>
                </c:pt>
                <c:pt idx="31">
                  <c:v>0.42</c:v>
                </c:pt>
                <c:pt idx="32">
                  <c:v>0.44</c:v>
                </c:pt>
                <c:pt idx="33">
                  <c:v>0.435</c:v>
                </c:pt>
                <c:pt idx="34">
                  <c:v>0.45400000000000001</c:v>
                </c:pt>
                <c:pt idx="35">
                  <c:v>0.44900000000000001</c:v>
                </c:pt>
                <c:pt idx="36">
                  <c:v>0.44400000000000001</c:v>
                </c:pt>
                <c:pt idx="37">
                  <c:v>0.439</c:v>
                </c:pt>
                <c:pt idx="38">
                  <c:v>0.434</c:v>
                </c:pt>
                <c:pt idx="39">
                  <c:v>0.45300000000000001</c:v>
                </c:pt>
                <c:pt idx="40">
                  <c:v>0.44800000000000001</c:v>
                </c:pt>
                <c:pt idx="41">
                  <c:v>0.443</c:v>
                </c:pt>
                <c:pt idx="42">
                  <c:v>0.438</c:v>
                </c:pt>
                <c:pt idx="43">
                  <c:v>0.45700000000000002</c:v>
                </c:pt>
                <c:pt idx="44">
                  <c:v>0.45200000000000001</c:v>
                </c:pt>
                <c:pt idx="45">
                  <c:v>0.44600000000000001</c:v>
                </c:pt>
                <c:pt idx="46">
                  <c:v>0.441</c:v>
                </c:pt>
                <c:pt idx="47">
                  <c:v>0.436</c:v>
                </c:pt>
                <c:pt idx="48">
                  <c:v>0.43099999999999999</c:v>
                </c:pt>
                <c:pt idx="49">
                  <c:v>0.42599999999999999</c:v>
                </c:pt>
                <c:pt idx="50">
                  <c:v>0.42099999999999999</c:v>
                </c:pt>
                <c:pt idx="51">
                  <c:v>0.441</c:v>
                </c:pt>
                <c:pt idx="52">
                  <c:v>0.436</c:v>
                </c:pt>
                <c:pt idx="53">
                  <c:v>0.46</c:v>
                </c:pt>
                <c:pt idx="54">
                  <c:v>0.45500000000000002</c:v>
                </c:pt>
                <c:pt idx="55">
                  <c:v>0.44900000000000001</c:v>
                </c:pt>
                <c:pt idx="56">
                  <c:v>0.44400000000000001</c:v>
                </c:pt>
                <c:pt idx="57">
                  <c:v>0.439</c:v>
                </c:pt>
                <c:pt idx="58">
                  <c:v>0.434</c:v>
                </c:pt>
                <c:pt idx="59">
                  <c:v>1.05</c:v>
                </c:pt>
                <c:pt idx="60">
                  <c:v>1.038</c:v>
                </c:pt>
                <c:pt idx="61">
                  <c:v>1.026</c:v>
                </c:pt>
                <c:pt idx="62">
                  <c:v>1.0149999999999999</c:v>
                </c:pt>
                <c:pt idx="63">
                  <c:v>1.0049999999999999</c:v>
                </c:pt>
                <c:pt idx="64">
                  <c:v>0.99399999999999999</c:v>
                </c:pt>
                <c:pt idx="65">
                  <c:v>0.98599999999999999</c:v>
                </c:pt>
                <c:pt idx="66">
                  <c:v>0.97499999999999998</c:v>
                </c:pt>
                <c:pt idx="67">
                  <c:v>0.96299999999999997</c:v>
                </c:pt>
                <c:pt idx="68">
                  <c:v>1.18</c:v>
                </c:pt>
                <c:pt idx="69">
                  <c:v>1.1719999999999999</c:v>
                </c:pt>
                <c:pt idx="70">
                  <c:v>1.163</c:v>
                </c:pt>
                <c:pt idx="71">
                  <c:v>1.1639999999999999</c:v>
                </c:pt>
                <c:pt idx="72">
                  <c:v>1.165</c:v>
                </c:pt>
                <c:pt idx="73">
                  <c:v>1.1519999999999999</c:v>
                </c:pt>
                <c:pt idx="74">
                  <c:v>1.139</c:v>
                </c:pt>
                <c:pt idx="75">
                  <c:v>1.1259999999999999</c:v>
                </c:pt>
                <c:pt idx="76">
                  <c:v>1.113</c:v>
                </c:pt>
                <c:pt idx="77">
                  <c:v>1.1000000000000001</c:v>
                </c:pt>
                <c:pt idx="78">
                  <c:v>1.087</c:v>
                </c:pt>
                <c:pt idx="79">
                  <c:v>1.075</c:v>
                </c:pt>
                <c:pt idx="80">
                  <c:v>1.0629999999999999</c:v>
                </c:pt>
                <c:pt idx="81">
                  <c:v>1.05</c:v>
                </c:pt>
                <c:pt idx="82">
                  <c:v>1.038</c:v>
                </c:pt>
                <c:pt idx="83">
                  <c:v>1.05</c:v>
                </c:pt>
                <c:pt idx="84">
                  <c:v>1.038</c:v>
                </c:pt>
                <c:pt idx="85">
                  <c:v>1.026</c:v>
                </c:pt>
                <c:pt idx="86">
                  <c:v>1.014</c:v>
                </c:pt>
                <c:pt idx="87">
                  <c:v>1.002</c:v>
                </c:pt>
                <c:pt idx="88">
                  <c:v>0.99099999999999999</c:v>
                </c:pt>
                <c:pt idx="89">
                  <c:v>0.97899999999999998</c:v>
                </c:pt>
                <c:pt idx="90">
                  <c:v>0.96799999999999997</c:v>
                </c:pt>
                <c:pt idx="91">
                  <c:v>0.95699999999999996</c:v>
                </c:pt>
                <c:pt idx="92">
                  <c:v>0.94599999999999995</c:v>
                </c:pt>
                <c:pt idx="93">
                  <c:v>0.93500000000000005</c:v>
                </c:pt>
                <c:pt idx="94">
                  <c:v>0.92400000000000004</c:v>
                </c:pt>
                <c:pt idx="95">
                  <c:v>0.91400000000000003</c:v>
                </c:pt>
                <c:pt idx="96">
                  <c:v>0.90300000000000002</c:v>
                </c:pt>
                <c:pt idx="97">
                  <c:v>0.89300000000000002</c:v>
                </c:pt>
                <c:pt idx="98">
                  <c:v>0.88300000000000001</c:v>
                </c:pt>
                <c:pt idx="99">
                  <c:v>0.873</c:v>
                </c:pt>
                <c:pt idx="100">
                  <c:v>0.86299999999999999</c:v>
                </c:pt>
                <c:pt idx="101">
                  <c:v>0.85299999999999998</c:v>
                </c:pt>
                <c:pt idx="102">
                  <c:v>0.84299999999999997</c:v>
                </c:pt>
                <c:pt idx="103">
                  <c:v>0.83499999999999996</c:v>
                </c:pt>
                <c:pt idx="104">
                  <c:v>0.82599999999999996</c:v>
                </c:pt>
                <c:pt idx="105">
                  <c:v>0.81599999999999995</c:v>
                </c:pt>
                <c:pt idx="106">
                  <c:v>0.80700000000000005</c:v>
                </c:pt>
                <c:pt idx="107">
                  <c:v>0.82699999999999996</c:v>
                </c:pt>
                <c:pt idx="108">
                  <c:v>0.82799999999999996</c:v>
                </c:pt>
                <c:pt idx="109">
                  <c:v>0.81799999999999995</c:v>
                </c:pt>
                <c:pt idx="110">
                  <c:v>0.80900000000000005</c:v>
                </c:pt>
                <c:pt idx="111">
                  <c:v>0.8</c:v>
                </c:pt>
                <c:pt idx="112">
                  <c:v>0.79100000000000004</c:v>
                </c:pt>
                <c:pt idx="113">
                  <c:v>0.79200000000000004</c:v>
                </c:pt>
                <c:pt idx="114">
                  <c:v>0.78600000000000003</c:v>
                </c:pt>
                <c:pt idx="115">
                  <c:v>0.77700000000000002</c:v>
                </c:pt>
                <c:pt idx="116">
                  <c:v>0.76900000000000002</c:v>
                </c:pt>
                <c:pt idx="117">
                  <c:v>0.76</c:v>
                </c:pt>
                <c:pt idx="118">
                  <c:v>0.75800000000000001</c:v>
                </c:pt>
                <c:pt idx="119">
                  <c:v>0.753</c:v>
                </c:pt>
                <c:pt idx="120">
                  <c:v>0.748</c:v>
                </c:pt>
                <c:pt idx="121">
                  <c:v>0.73899999999999999</c:v>
                </c:pt>
                <c:pt idx="122">
                  <c:v>0.73099999999999998</c:v>
                </c:pt>
                <c:pt idx="123">
                  <c:v>0.72199999999999998</c:v>
                </c:pt>
                <c:pt idx="124">
                  <c:v>0.71399999999999997</c:v>
                </c:pt>
                <c:pt idx="125">
                  <c:v>0.70799999999999996</c:v>
                </c:pt>
                <c:pt idx="126">
                  <c:v>0.7</c:v>
                </c:pt>
                <c:pt idx="127">
                  <c:v>0.69199999999999995</c:v>
                </c:pt>
                <c:pt idx="128">
                  <c:v>0.68400000000000005</c:v>
                </c:pt>
                <c:pt idx="129">
                  <c:v>0.67600000000000005</c:v>
                </c:pt>
                <c:pt idx="130">
                  <c:v>0.66800000000000004</c:v>
                </c:pt>
                <c:pt idx="131">
                  <c:v>0.66400000000000003</c:v>
                </c:pt>
                <c:pt idx="132">
                  <c:v>0.65600000000000003</c:v>
                </c:pt>
                <c:pt idx="133">
                  <c:v>0.66600000000000004</c:v>
                </c:pt>
                <c:pt idx="134">
                  <c:v>0.65900000000000003</c:v>
                </c:pt>
                <c:pt idx="135">
                  <c:v>0.878</c:v>
                </c:pt>
                <c:pt idx="136">
                  <c:v>0.95099999999999996</c:v>
                </c:pt>
                <c:pt idx="137">
                  <c:v>0.94399999999999995</c:v>
                </c:pt>
                <c:pt idx="138">
                  <c:v>1.036</c:v>
                </c:pt>
                <c:pt idx="139">
                  <c:v>1.1080000000000001</c:v>
                </c:pt>
                <c:pt idx="140">
                  <c:v>1.0980000000000001</c:v>
                </c:pt>
                <c:pt idx="141">
                  <c:v>1.365</c:v>
                </c:pt>
                <c:pt idx="142">
                  <c:v>1.349</c:v>
                </c:pt>
                <c:pt idx="143">
                  <c:v>1.3340000000000001</c:v>
                </c:pt>
                <c:pt idx="144">
                  <c:v>1.3220000000000001</c:v>
                </c:pt>
                <c:pt idx="145">
                  <c:v>1.3089999999999999</c:v>
                </c:pt>
                <c:pt idx="146">
                  <c:v>1.294</c:v>
                </c:pt>
                <c:pt idx="147">
                  <c:v>1.2789999999999999</c:v>
                </c:pt>
                <c:pt idx="148">
                  <c:v>1.264</c:v>
                </c:pt>
                <c:pt idx="149">
                  <c:v>1.25</c:v>
                </c:pt>
                <c:pt idx="150">
                  <c:v>1.2350000000000001</c:v>
                </c:pt>
                <c:pt idx="151">
                  <c:v>1.2470000000000001</c:v>
                </c:pt>
                <c:pt idx="152">
                  <c:v>1.234</c:v>
                </c:pt>
                <c:pt idx="153">
                  <c:v>1.2190000000000001</c:v>
                </c:pt>
                <c:pt idx="154">
                  <c:v>1.2050000000000001</c:v>
                </c:pt>
                <c:pt idx="155">
                  <c:v>1.1990000000000001</c:v>
                </c:pt>
                <c:pt idx="156">
                  <c:v>1.3260000000000001</c:v>
                </c:pt>
                <c:pt idx="157">
                  <c:v>1.3109999999999999</c:v>
                </c:pt>
                <c:pt idx="158">
                  <c:v>1.296</c:v>
                </c:pt>
                <c:pt idx="159">
                  <c:v>1.2809999999999999</c:v>
                </c:pt>
                <c:pt idx="160">
                  <c:v>1.3720000000000001</c:v>
                </c:pt>
                <c:pt idx="161">
                  <c:v>1.357</c:v>
                </c:pt>
                <c:pt idx="162">
                  <c:v>1.341</c:v>
                </c:pt>
                <c:pt idx="163">
                  <c:v>1.3260000000000001</c:v>
                </c:pt>
                <c:pt idx="164">
                  <c:v>1.31</c:v>
                </c:pt>
                <c:pt idx="165">
                  <c:v>1.321</c:v>
                </c:pt>
                <c:pt idx="166">
                  <c:v>1.306</c:v>
                </c:pt>
                <c:pt idx="167">
                  <c:v>1.2909999999999999</c:v>
                </c:pt>
                <c:pt idx="168">
                  <c:v>1.276</c:v>
                </c:pt>
                <c:pt idx="169">
                  <c:v>1.2609999999999999</c:v>
                </c:pt>
                <c:pt idx="170">
                  <c:v>1.258</c:v>
                </c:pt>
                <c:pt idx="171">
                  <c:v>1.2450000000000001</c:v>
                </c:pt>
                <c:pt idx="172">
                  <c:v>1.23</c:v>
                </c:pt>
                <c:pt idx="173">
                  <c:v>1.216</c:v>
                </c:pt>
                <c:pt idx="174">
                  <c:v>1.202</c:v>
                </c:pt>
                <c:pt idx="175">
                  <c:v>1.331</c:v>
                </c:pt>
                <c:pt idx="176">
                  <c:v>1.446</c:v>
                </c:pt>
                <c:pt idx="177">
                  <c:v>1.429</c:v>
                </c:pt>
                <c:pt idx="178">
                  <c:v>1.5349999999999999</c:v>
                </c:pt>
                <c:pt idx="179">
                  <c:v>1.631</c:v>
                </c:pt>
                <c:pt idx="180">
                  <c:v>1.72</c:v>
                </c:pt>
                <c:pt idx="181">
                  <c:v>1.7010000000000001</c:v>
                </c:pt>
                <c:pt idx="182">
                  <c:v>1.681</c:v>
                </c:pt>
                <c:pt idx="183">
                  <c:v>1.7290000000000001</c:v>
                </c:pt>
                <c:pt idx="184">
                  <c:v>1.7090000000000001</c:v>
                </c:pt>
                <c:pt idx="185">
                  <c:v>1.6890000000000001</c:v>
                </c:pt>
                <c:pt idx="186">
                  <c:v>1.67</c:v>
                </c:pt>
                <c:pt idx="187">
                  <c:v>1.651</c:v>
                </c:pt>
                <c:pt idx="188">
                  <c:v>1.6319999999999999</c:v>
                </c:pt>
                <c:pt idx="189">
                  <c:v>1.613</c:v>
                </c:pt>
                <c:pt idx="190">
                  <c:v>1.6639999999999999</c:v>
                </c:pt>
                <c:pt idx="191">
                  <c:v>1.714</c:v>
                </c:pt>
                <c:pt idx="192">
                  <c:v>1.694</c:v>
                </c:pt>
                <c:pt idx="193">
                  <c:v>1.6739999999999999</c:v>
                </c:pt>
                <c:pt idx="194">
                  <c:v>1.655</c:v>
                </c:pt>
                <c:pt idx="195">
                  <c:v>1.6359999999999999</c:v>
                </c:pt>
                <c:pt idx="196">
                  <c:v>1.617</c:v>
                </c:pt>
                <c:pt idx="197">
                  <c:v>1.669</c:v>
                </c:pt>
                <c:pt idx="198">
                  <c:v>1.65</c:v>
                </c:pt>
                <c:pt idx="199">
                  <c:v>1.7</c:v>
                </c:pt>
                <c:pt idx="200">
                  <c:v>1.694</c:v>
                </c:pt>
                <c:pt idx="201">
                  <c:v>1.675</c:v>
                </c:pt>
                <c:pt idx="202">
                  <c:v>1.655</c:v>
                </c:pt>
                <c:pt idx="203">
                  <c:v>1.65</c:v>
                </c:pt>
                <c:pt idx="204">
                  <c:v>1.631</c:v>
                </c:pt>
                <c:pt idx="205">
                  <c:v>1.613</c:v>
                </c:pt>
                <c:pt idx="206">
                  <c:v>1.5940000000000001</c:v>
                </c:pt>
                <c:pt idx="207">
                  <c:v>1.5760000000000001</c:v>
                </c:pt>
                <c:pt idx="208">
                  <c:v>1.5580000000000001</c:v>
                </c:pt>
                <c:pt idx="209">
                  <c:v>1.54</c:v>
                </c:pt>
                <c:pt idx="210">
                  <c:v>1.522</c:v>
                </c:pt>
                <c:pt idx="211">
                  <c:v>1.5049999999999999</c:v>
                </c:pt>
                <c:pt idx="212">
                  <c:v>1.4870000000000001</c:v>
                </c:pt>
                <c:pt idx="213">
                  <c:v>1.47</c:v>
                </c:pt>
                <c:pt idx="214">
                  <c:v>1.4530000000000001</c:v>
                </c:pt>
                <c:pt idx="215">
                  <c:v>1.5249999999999999</c:v>
                </c:pt>
                <c:pt idx="216">
                  <c:v>1.5069999999999999</c:v>
                </c:pt>
                <c:pt idx="217">
                  <c:v>1.49</c:v>
                </c:pt>
                <c:pt idx="218">
                  <c:v>1.4730000000000001</c:v>
                </c:pt>
                <c:pt idx="219">
                  <c:v>1.47</c:v>
                </c:pt>
                <c:pt idx="220">
                  <c:v>1.4530000000000001</c:v>
                </c:pt>
                <c:pt idx="221">
                  <c:v>1.4359999999999999</c:v>
                </c:pt>
                <c:pt idx="222">
                  <c:v>1.42</c:v>
                </c:pt>
                <c:pt idx="223">
                  <c:v>1.405</c:v>
                </c:pt>
                <c:pt idx="224">
                  <c:v>1.391</c:v>
                </c:pt>
                <c:pt idx="225">
                  <c:v>1.375</c:v>
                </c:pt>
                <c:pt idx="226">
                  <c:v>1.36</c:v>
                </c:pt>
                <c:pt idx="227">
                  <c:v>1.3440000000000001</c:v>
                </c:pt>
                <c:pt idx="228">
                  <c:v>1.329</c:v>
                </c:pt>
                <c:pt idx="229">
                  <c:v>1.3129999999999999</c:v>
                </c:pt>
                <c:pt idx="230">
                  <c:v>1.298</c:v>
                </c:pt>
                <c:pt idx="231">
                  <c:v>1.2829999999999999</c:v>
                </c:pt>
                <c:pt idx="232">
                  <c:v>1.2689999999999999</c:v>
                </c:pt>
                <c:pt idx="233">
                  <c:v>1.254</c:v>
                </c:pt>
                <c:pt idx="234">
                  <c:v>1.24</c:v>
                </c:pt>
                <c:pt idx="235">
                  <c:v>1.226</c:v>
                </c:pt>
                <c:pt idx="236">
                  <c:v>1.214</c:v>
                </c:pt>
                <c:pt idx="237">
                  <c:v>1.2</c:v>
                </c:pt>
                <c:pt idx="238">
                  <c:v>1.1870000000000001</c:v>
                </c:pt>
                <c:pt idx="239">
                  <c:v>1.173</c:v>
                </c:pt>
                <c:pt idx="240">
                  <c:v>1.2110000000000001</c:v>
                </c:pt>
                <c:pt idx="241">
                  <c:v>1.1970000000000001</c:v>
                </c:pt>
                <c:pt idx="242">
                  <c:v>1.1830000000000001</c:v>
                </c:pt>
                <c:pt idx="243">
                  <c:v>1.1990000000000001</c:v>
                </c:pt>
                <c:pt idx="244">
                  <c:v>1.1850000000000001</c:v>
                </c:pt>
                <c:pt idx="245">
                  <c:v>1.1719999999999999</c:v>
                </c:pt>
                <c:pt idx="246">
                  <c:v>1.1579999999999999</c:v>
                </c:pt>
                <c:pt idx="247">
                  <c:v>1.145</c:v>
                </c:pt>
                <c:pt idx="248">
                  <c:v>1.1319999999999999</c:v>
                </c:pt>
                <c:pt idx="249">
                  <c:v>1.119</c:v>
                </c:pt>
                <c:pt idx="250">
                  <c:v>1.109</c:v>
                </c:pt>
                <c:pt idx="251">
                  <c:v>1.097</c:v>
                </c:pt>
                <c:pt idx="252">
                  <c:v>1.085</c:v>
                </c:pt>
                <c:pt idx="253">
                  <c:v>1.0720000000000001</c:v>
                </c:pt>
                <c:pt idx="254">
                  <c:v>1.06</c:v>
                </c:pt>
                <c:pt idx="255">
                  <c:v>1.048</c:v>
                </c:pt>
                <c:pt idx="256">
                  <c:v>1.0389999999999999</c:v>
                </c:pt>
                <c:pt idx="257">
                  <c:v>1.0269999999999999</c:v>
                </c:pt>
                <c:pt idx="258">
                  <c:v>1.0149999999999999</c:v>
                </c:pt>
                <c:pt idx="259">
                  <c:v>1.004</c:v>
                </c:pt>
                <c:pt idx="260">
                  <c:v>0.99199999999999999</c:v>
                </c:pt>
                <c:pt idx="261">
                  <c:v>0.98499999999999999</c:v>
                </c:pt>
                <c:pt idx="262">
                  <c:v>0.97299999999999998</c:v>
                </c:pt>
                <c:pt idx="263">
                  <c:v>0.96199999999999997</c:v>
                </c:pt>
                <c:pt idx="264">
                  <c:v>0.95099999999999996</c:v>
                </c:pt>
                <c:pt idx="265">
                  <c:v>0.94</c:v>
                </c:pt>
                <c:pt idx="266">
                  <c:v>0.93</c:v>
                </c:pt>
                <c:pt idx="267">
                  <c:v>0.91900000000000004</c:v>
                </c:pt>
                <c:pt idx="268">
                  <c:v>0.91200000000000003</c:v>
                </c:pt>
                <c:pt idx="269">
                  <c:v>0.90200000000000002</c:v>
                </c:pt>
                <c:pt idx="270">
                  <c:v>0.89100000000000001</c:v>
                </c:pt>
                <c:pt idx="271">
                  <c:v>0.88100000000000001</c:v>
                </c:pt>
                <c:pt idx="272">
                  <c:v>0.88500000000000001</c:v>
                </c:pt>
                <c:pt idx="273">
                  <c:v>0.875</c:v>
                </c:pt>
                <c:pt idx="274">
                  <c:v>0.86599999999999999</c:v>
                </c:pt>
                <c:pt idx="275">
                  <c:v>0.87</c:v>
                </c:pt>
                <c:pt idx="276">
                  <c:v>0.86899999999999999</c:v>
                </c:pt>
                <c:pt idx="277">
                  <c:v>0.90600000000000003</c:v>
                </c:pt>
                <c:pt idx="278">
                  <c:v>0.89500000000000002</c:v>
                </c:pt>
                <c:pt idx="279">
                  <c:v>0.88500000000000001</c:v>
                </c:pt>
                <c:pt idx="280">
                  <c:v>0.875</c:v>
                </c:pt>
                <c:pt idx="281">
                  <c:v>0.86499999999999999</c:v>
                </c:pt>
                <c:pt idx="282">
                  <c:v>0.90200000000000002</c:v>
                </c:pt>
                <c:pt idx="283">
                  <c:v>0.89200000000000002</c:v>
                </c:pt>
                <c:pt idx="284">
                  <c:v>0.88100000000000001</c:v>
                </c:pt>
                <c:pt idx="285">
                  <c:v>0.871</c:v>
                </c:pt>
                <c:pt idx="286">
                  <c:v>0.86099999999999999</c:v>
                </c:pt>
                <c:pt idx="287">
                  <c:v>0.85099999999999998</c:v>
                </c:pt>
                <c:pt idx="288">
                  <c:v>0.84199999999999997</c:v>
                </c:pt>
                <c:pt idx="289">
                  <c:v>0.83199999999999996</c:v>
                </c:pt>
                <c:pt idx="290">
                  <c:v>0.82699999999999996</c:v>
                </c:pt>
                <c:pt idx="291">
                  <c:v>0.82699999999999996</c:v>
                </c:pt>
                <c:pt idx="292">
                  <c:v>0.81699999999999995</c:v>
                </c:pt>
                <c:pt idx="293">
                  <c:v>0.80800000000000005</c:v>
                </c:pt>
                <c:pt idx="294">
                  <c:v>0.79900000000000004</c:v>
                </c:pt>
                <c:pt idx="295">
                  <c:v>0.78900000000000003</c:v>
                </c:pt>
                <c:pt idx="296">
                  <c:v>0.78</c:v>
                </c:pt>
                <c:pt idx="297">
                  <c:v>0.77100000000000002</c:v>
                </c:pt>
                <c:pt idx="298">
                  <c:v>0.91500000000000004</c:v>
                </c:pt>
                <c:pt idx="299">
                  <c:v>0.96099999999999997</c:v>
                </c:pt>
                <c:pt idx="300">
                  <c:v>0.95</c:v>
                </c:pt>
                <c:pt idx="301">
                  <c:v>0.93899999999999995</c:v>
                </c:pt>
                <c:pt idx="302">
                  <c:v>0.92800000000000005</c:v>
                </c:pt>
                <c:pt idx="303">
                  <c:v>0.91700000000000004</c:v>
                </c:pt>
                <c:pt idx="304">
                  <c:v>0.90700000000000003</c:v>
                </c:pt>
                <c:pt idx="305">
                  <c:v>0.95399999999999996</c:v>
                </c:pt>
                <c:pt idx="306">
                  <c:v>0.94299999999999995</c:v>
                </c:pt>
                <c:pt idx="307">
                  <c:v>0.93200000000000005</c:v>
                </c:pt>
                <c:pt idx="308">
                  <c:v>0.97699999999999998</c:v>
                </c:pt>
                <c:pt idx="309">
                  <c:v>0.96499999999999997</c:v>
                </c:pt>
                <c:pt idx="310">
                  <c:v>0.95399999999999996</c:v>
                </c:pt>
                <c:pt idx="311">
                  <c:v>0.998</c:v>
                </c:pt>
                <c:pt idx="312">
                  <c:v>0.98599999999999999</c:v>
                </c:pt>
                <c:pt idx="313">
                  <c:v>0.97499999999999998</c:v>
                </c:pt>
                <c:pt idx="314">
                  <c:v>0.96399999999999997</c:v>
                </c:pt>
                <c:pt idx="315">
                  <c:v>0.95299999999999996</c:v>
                </c:pt>
                <c:pt idx="316">
                  <c:v>0.996</c:v>
                </c:pt>
                <c:pt idx="317">
                  <c:v>0.98399999999999999</c:v>
                </c:pt>
                <c:pt idx="318">
                  <c:v>0.97299999999999998</c:v>
                </c:pt>
                <c:pt idx="319">
                  <c:v>1.014</c:v>
                </c:pt>
                <c:pt idx="320">
                  <c:v>1.0029999999999999</c:v>
                </c:pt>
                <c:pt idx="321">
                  <c:v>1.042</c:v>
                </c:pt>
                <c:pt idx="322">
                  <c:v>1.08</c:v>
                </c:pt>
                <c:pt idx="323">
                  <c:v>1.0980000000000001</c:v>
                </c:pt>
                <c:pt idx="324">
                  <c:v>1.097</c:v>
                </c:pt>
                <c:pt idx="325">
                  <c:v>1.0840000000000001</c:v>
                </c:pt>
                <c:pt idx="326">
                  <c:v>1.0720000000000001</c:v>
                </c:pt>
                <c:pt idx="327">
                  <c:v>1.06</c:v>
                </c:pt>
                <c:pt idx="328">
                  <c:v>1.048</c:v>
                </c:pt>
                <c:pt idx="329">
                  <c:v>1.036</c:v>
                </c:pt>
                <c:pt idx="330">
                  <c:v>1.024</c:v>
                </c:pt>
                <c:pt idx="331">
                  <c:v>1.012</c:v>
                </c:pt>
                <c:pt idx="332">
                  <c:v>1</c:v>
                </c:pt>
                <c:pt idx="333">
                  <c:v>0.98899999999999999</c:v>
                </c:pt>
                <c:pt idx="334">
                  <c:v>0.97699999999999998</c:v>
                </c:pt>
                <c:pt idx="335">
                  <c:v>0.96599999999999997</c:v>
                </c:pt>
                <c:pt idx="336">
                  <c:v>0.95499999999999996</c:v>
                </c:pt>
                <c:pt idx="337">
                  <c:v>0.94399999999999995</c:v>
                </c:pt>
                <c:pt idx="338">
                  <c:v>0.93300000000000005</c:v>
                </c:pt>
                <c:pt idx="339">
                  <c:v>0.92300000000000004</c:v>
                </c:pt>
                <c:pt idx="340">
                  <c:v>0.91300000000000003</c:v>
                </c:pt>
                <c:pt idx="341">
                  <c:v>0.91700000000000004</c:v>
                </c:pt>
                <c:pt idx="342">
                  <c:v>0.90700000000000003</c:v>
                </c:pt>
                <c:pt idx="343">
                  <c:v>0.89600000000000002</c:v>
                </c:pt>
                <c:pt idx="344">
                  <c:v>0.88600000000000001</c:v>
                </c:pt>
                <c:pt idx="345">
                  <c:v>0.876</c:v>
                </c:pt>
                <c:pt idx="346">
                  <c:v>0.86599999999999999</c:v>
                </c:pt>
                <c:pt idx="347">
                  <c:v>0.85599999999999998</c:v>
                </c:pt>
                <c:pt idx="348">
                  <c:v>0.84599999999999997</c:v>
                </c:pt>
                <c:pt idx="349">
                  <c:v>0.83599999999999997</c:v>
                </c:pt>
                <c:pt idx="350">
                  <c:v>0.84299999999999997</c:v>
                </c:pt>
                <c:pt idx="351">
                  <c:v>0.83299999999999996</c:v>
                </c:pt>
                <c:pt idx="352">
                  <c:v>0.82399999999999995</c:v>
                </c:pt>
                <c:pt idx="353">
                  <c:v>0.81399999999999995</c:v>
                </c:pt>
                <c:pt idx="354">
                  <c:v>0.80500000000000005</c:v>
                </c:pt>
                <c:pt idx="355">
                  <c:v>0.79500000000000004</c:v>
                </c:pt>
                <c:pt idx="356">
                  <c:v>0.78600000000000003</c:v>
                </c:pt>
                <c:pt idx="357">
                  <c:v>0.77700000000000002</c:v>
                </c:pt>
                <c:pt idx="358">
                  <c:v>0.76800000000000002</c:v>
                </c:pt>
                <c:pt idx="359">
                  <c:v>0.76</c:v>
                </c:pt>
                <c:pt idx="360">
                  <c:v>0.751</c:v>
                </c:pt>
                <c:pt idx="361">
                  <c:v>0.74199999999999999</c:v>
                </c:pt>
                <c:pt idx="362">
                  <c:v>0.73399999999999999</c:v>
                </c:pt>
                <c:pt idx="363">
                  <c:v>0.72499999999999998</c:v>
                </c:pt>
                <c:pt idx="364">
                  <c:v>0.71699999999999997</c:v>
                </c:pt>
                <c:pt idx="365">
                  <c:v>0.70899999999999996</c:v>
                </c:pt>
                <c:pt idx="366">
                  <c:v>0.70099999999999996</c:v>
                </c:pt>
                <c:pt idx="367">
                  <c:v>0.69299999999999995</c:v>
                </c:pt>
                <c:pt idx="368">
                  <c:v>0.68500000000000005</c:v>
                </c:pt>
                <c:pt idx="369">
                  <c:v>0.69499999999999995</c:v>
                </c:pt>
                <c:pt idx="370">
                  <c:v>0.68700000000000006</c:v>
                </c:pt>
                <c:pt idx="371">
                  <c:v>0.7</c:v>
                </c:pt>
                <c:pt idx="372">
                  <c:v>0.71599999999999997</c:v>
                </c:pt>
                <c:pt idx="373">
                  <c:v>0.70699999999999996</c:v>
                </c:pt>
                <c:pt idx="374">
                  <c:v>0.69899999999999995</c:v>
                </c:pt>
                <c:pt idx="375">
                  <c:v>0.69099999999999995</c:v>
                </c:pt>
                <c:pt idx="376">
                  <c:v>0.68300000000000005</c:v>
                </c:pt>
                <c:pt idx="377">
                  <c:v>0.67500000000000004</c:v>
                </c:pt>
                <c:pt idx="378">
                  <c:v>0.66800000000000004</c:v>
                </c:pt>
                <c:pt idx="379">
                  <c:v>0.66</c:v>
                </c:pt>
                <c:pt idx="380">
                  <c:v>0.65200000000000002</c:v>
                </c:pt>
                <c:pt idx="381">
                  <c:v>0.64500000000000002</c:v>
                </c:pt>
                <c:pt idx="382">
                  <c:v>0.63800000000000001</c:v>
                </c:pt>
                <c:pt idx="383">
                  <c:v>0.63</c:v>
                </c:pt>
                <c:pt idx="384">
                  <c:v>0.623</c:v>
                </c:pt>
                <c:pt idx="385">
                  <c:v>0.61599999999999999</c:v>
                </c:pt>
                <c:pt idx="386">
                  <c:v>0.60899999999999999</c:v>
                </c:pt>
                <c:pt idx="387">
                  <c:v>0.60199999999999998</c:v>
                </c:pt>
                <c:pt idx="388">
                  <c:v>0.59499999999999997</c:v>
                </c:pt>
                <c:pt idx="389">
                  <c:v>0.58799999999999997</c:v>
                </c:pt>
                <c:pt idx="390">
                  <c:v>0.58099999999999996</c:v>
                </c:pt>
                <c:pt idx="391">
                  <c:v>0.57499999999999996</c:v>
                </c:pt>
                <c:pt idx="392">
                  <c:v>0.56799999999999995</c:v>
                </c:pt>
                <c:pt idx="393">
                  <c:v>0.56100000000000005</c:v>
                </c:pt>
                <c:pt idx="394">
                  <c:v>0.55500000000000005</c:v>
                </c:pt>
                <c:pt idx="395">
                  <c:v>0.54900000000000004</c:v>
                </c:pt>
                <c:pt idx="396">
                  <c:v>0.56499999999999995</c:v>
                </c:pt>
                <c:pt idx="397">
                  <c:v>0.57999999999999996</c:v>
                </c:pt>
                <c:pt idx="398">
                  <c:v>0.59499999999999997</c:v>
                </c:pt>
                <c:pt idx="399">
                  <c:v>0.58799999999999997</c:v>
                </c:pt>
                <c:pt idx="400">
                  <c:v>0.58099999999999996</c:v>
                </c:pt>
                <c:pt idx="401">
                  <c:v>0.57499999999999996</c:v>
                </c:pt>
                <c:pt idx="402">
                  <c:v>0.58899999999999997</c:v>
                </c:pt>
                <c:pt idx="403">
                  <c:v>0.60299999999999998</c:v>
                </c:pt>
                <c:pt idx="404">
                  <c:v>0.59599999999999997</c:v>
                </c:pt>
                <c:pt idx="405">
                  <c:v>0.61</c:v>
                </c:pt>
                <c:pt idx="406">
                  <c:v>0.60299999999999998</c:v>
                </c:pt>
                <c:pt idx="407">
                  <c:v>0.60099999999999998</c:v>
                </c:pt>
                <c:pt idx="408">
                  <c:v>0.59499999999999997</c:v>
                </c:pt>
                <c:pt idx="409">
                  <c:v>0.58799999999999997</c:v>
                </c:pt>
                <c:pt idx="410">
                  <c:v>0.60199999999999998</c:v>
                </c:pt>
                <c:pt idx="411">
                  <c:v>0.59499999999999997</c:v>
                </c:pt>
                <c:pt idx="412">
                  <c:v>0.58799999999999997</c:v>
                </c:pt>
                <c:pt idx="413">
                  <c:v>0.60199999999999998</c:v>
                </c:pt>
                <c:pt idx="414">
                  <c:v>0.61499999999999999</c:v>
                </c:pt>
                <c:pt idx="415">
                  <c:v>0.63800000000000001</c:v>
                </c:pt>
                <c:pt idx="416">
                  <c:v>0.63</c:v>
                </c:pt>
                <c:pt idx="417">
                  <c:v>0.623</c:v>
                </c:pt>
                <c:pt idx="418">
                  <c:v>0.67600000000000005</c:v>
                </c:pt>
                <c:pt idx="419">
                  <c:v>0.66800000000000004</c:v>
                </c:pt>
                <c:pt idx="420">
                  <c:v>0.66100000000000003</c:v>
                </c:pt>
                <c:pt idx="421">
                  <c:v>0.66200000000000003</c:v>
                </c:pt>
                <c:pt idx="422">
                  <c:v>0.67500000000000004</c:v>
                </c:pt>
                <c:pt idx="423">
                  <c:v>0.66700000000000004</c:v>
                </c:pt>
                <c:pt idx="424">
                  <c:v>0.65900000000000003</c:v>
                </c:pt>
                <c:pt idx="425">
                  <c:v>0.65200000000000002</c:v>
                </c:pt>
                <c:pt idx="426">
                  <c:v>0.64400000000000002</c:v>
                </c:pt>
                <c:pt idx="427">
                  <c:v>0.63700000000000001</c:v>
                </c:pt>
                <c:pt idx="428">
                  <c:v>0.63</c:v>
                </c:pt>
                <c:pt idx="429">
                  <c:v>0.622</c:v>
                </c:pt>
                <c:pt idx="430">
                  <c:v>0.90600000000000003</c:v>
                </c:pt>
                <c:pt idx="431">
                  <c:v>0.89600000000000002</c:v>
                </c:pt>
                <c:pt idx="432">
                  <c:v>0.88600000000000001</c:v>
                </c:pt>
                <c:pt idx="433">
                  <c:v>0.876</c:v>
                </c:pt>
                <c:pt idx="434">
                  <c:v>0.86499999999999999</c:v>
                </c:pt>
                <c:pt idx="435">
                  <c:v>0.85599999999999998</c:v>
                </c:pt>
                <c:pt idx="436">
                  <c:v>0.84599999999999997</c:v>
                </c:pt>
                <c:pt idx="437">
                  <c:v>0.83599999999999997</c:v>
                </c:pt>
                <c:pt idx="438">
                  <c:v>0.82599999999999996</c:v>
                </c:pt>
                <c:pt idx="439">
                  <c:v>0.81699999999999995</c:v>
                </c:pt>
                <c:pt idx="440">
                  <c:v>0.80800000000000005</c:v>
                </c:pt>
                <c:pt idx="441">
                  <c:v>0.79800000000000004</c:v>
                </c:pt>
                <c:pt idx="442">
                  <c:v>0.78900000000000003</c:v>
                </c:pt>
                <c:pt idx="443">
                  <c:v>0.78</c:v>
                </c:pt>
                <c:pt idx="444">
                  <c:v>0.77100000000000002</c:v>
                </c:pt>
                <c:pt idx="445">
                  <c:v>0.76200000000000001</c:v>
                </c:pt>
                <c:pt idx="446">
                  <c:v>0.754</c:v>
                </c:pt>
                <c:pt idx="447">
                  <c:v>0.85699999999999998</c:v>
                </c:pt>
                <c:pt idx="448">
                  <c:v>0.84699999999999998</c:v>
                </c:pt>
                <c:pt idx="449">
                  <c:v>0.83699999999999997</c:v>
                </c:pt>
                <c:pt idx="450">
                  <c:v>0.91700000000000004</c:v>
                </c:pt>
                <c:pt idx="451">
                  <c:v>0.90700000000000003</c:v>
                </c:pt>
                <c:pt idx="452">
                  <c:v>0.89600000000000002</c:v>
                </c:pt>
                <c:pt idx="453">
                  <c:v>0.88600000000000001</c:v>
                </c:pt>
                <c:pt idx="454">
                  <c:v>0.876</c:v>
                </c:pt>
                <c:pt idx="455">
                  <c:v>0.86599999999999999</c:v>
                </c:pt>
                <c:pt idx="456">
                  <c:v>0.85599999999999998</c:v>
                </c:pt>
                <c:pt idx="457">
                  <c:v>0.86399999999999999</c:v>
                </c:pt>
                <c:pt idx="458">
                  <c:v>0.85399999999999998</c:v>
                </c:pt>
                <c:pt idx="459">
                  <c:v>0.84399999999999997</c:v>
                </c:pt>
                <c:pt idx="460">
                  <c:v>0.85099999999999998</c:v>
                </c:pt>
                <c:pt idx="461">
                  <c:v>0.84099999999999997</c:v>
                </c:pt>
                <c:pt idx="462">
                  <c:v>0.871</c:v>
                </c:pt>
                <c:pt idx="463">
                  <c:v>0.86099999999999999</c:v>
                </c:pt>
                <c:pt idx="464">
                  <c:v>0.85099999999999998</c:v>
                </c:pt>
                <c:pt idx="465">
                  <c:v>0.84099999999999997</c:v>
                </c:pt>
                <c:pt idx="466">
                  <c:v>0.83199999999999996</c:v>
                </c:pt>
                <c:pt idx="467">
                  <c:v>0.82199999999999995</c:v>
                </c:pt>
                <c:pt idx="468">
                  <c:v>0.81299999999999994</c:v>
                </c:pt>
                <c:pt idx="469">
                  <c:v>0.80900000000000005</c:v>
                </c:pt>
                <c:pt idx="470">
                  <c:v>0.79900000000000004</c:v>
                </c:pt>
                <c:pt idx="471">
                  <c:v>0.79</c:v>
                </c:pt>
                <c:pt idx="472">
                  <c:v>0.78100000000000003</c:v>
                </c:pt>
                <c:pt idx="473">
                  <c:v>0.77200000000000002</c:v>
                </c:pt>
                <c:pt idx="474">
                  <c:v>0.76300000000000001</c:v>
                </c:pt>
                <c:pt idx="475">
                  <c:v>0.755</c:v>
                </c:pt>
                <c:pt idx="476">
                  <c:v>0.746</c:v>
                </c:pt>
                <c:pt idx="477">
                  <c:v>0.73699999999999999</c:v>
                </c:pt>
                <c:pt idx="478">
                  <c:v>1.254</c:v>
                </c:pt>
                <c:pt idx="479">
                  <c:v>1.2390000000000001</c:v>
                </c:pt>
                <c:pt idx="480">
                  <c:v>1.2250000000000001</c:v>
                </c:pt>
                <c:pt idx="481">
                  <c:v>1.2110000000000001</c:v>
                </c:pt>
                <c:pt idx="482">
                  <c:v>1.1970000000000001</c:v>
                </c:pt>
                <c:pt idx="483">
                  <c:v>1.1830000000000001</c:v>
                </c:pt>
                <c:pt idx="484">
                  <c:v>1.1719999999999999</c:v>
                </c:pt>
                <c:pt idx="485">
                  <c:v>1.159</c:v>
                </c:pt>
                <c:pt idx="486">
                  <c:v>1.145</c:v>
                </c:pt>
                <c:pt idx="487">
                  <c:v>1.1319999999999999</c:v>
                </c:pt>
                <c:pt idx="488">
                  <c:v>1.119</c:v>
                </c:pt>
                <c:pt idx="489">
                  <c:v>1.1060000000000001</c:v>
                </c:pt>
                <c:pt idx="490">
                  <c:v>1.0940000000000001</c:v>
                </c:pt>
                <c:pt idx="491">
                  <c:v>1.081</c:v>
                </c:pt>
                <c:pt idx="492">
                  <c:v>1.085</c:v>
                </c:pt>
                <c:pt idx="493">
                  <c:v>1.073</c:v>
                </c:pt>
                <c:pt idx="494">
                  <c:v>1.0609999999999999</c:v>
                </c:pt>
                <c:pt idx="495">
                  <c:v>1.0589999999999999</c:v>
                </c:pt>
                <c:pt idx="496">
                  <c:v>1.0620000000000001</c:v>
                </c:pt>
                <c:pt idx="497">
                  <c:v>1.0609999999999999</c:v>
                </c:pt>
                <c:pt idx="498">
                  <c:v>1.0489999999999999</c:v>
                </c:pt>
                <c:pt idx="499">
                  <c:v>1.0369999999999999</c:v>
                </c:pt>
                <c:pt idx="500">
                  <c:v>1.036</c:v>
                </c:pt>
                <c:pt idx="501">
                  <c:v>1.036</c:v>
                </c:pt>
                <c:pt idx="502">
                  <c:v>1.024</c:v>
                </c:pt>
                <c:pt idx="503">
                  <c:v>1.014</c:v>
                </c:pt>
                <c:pt idx="504">
                  <c:v>1.002</c:v>
                </c:pt>
                <c:pt idx="505">
                  <c:v>1.0029999999999999</c:v>
                </c:pt>
                <c:pt idx="506">
                  <c:v>0.99099999999999999</c:v>
                </c:pt>
                <c:pt idx="507">
                  <c:v>0.99199999999999999</c:v>
                </c:pt>
                <c:pt idx="508">
                  <c:v>0.98099999999999998</c:v>
                </c:pt>
                <c:pt idx="509">
                  <c:v>0.96899999999999997</c:v>
                </c:pt>
                <c:pt idx="510">
                  <c:v>0.95799999999999996</c:v>
                </c:pt>
                <c:pt idx="511">
                  <c:v>0.94699999999999995</c:v>
                </c:pt>
                <c:pt idx="512">
                  <c:v>0.93600000000000005</c:v>
                </c:pt>
                <c:pt idx="513">
                  <c:v>0.92600000000000005</c:v>
                </c:pt>
                <c:pt idx="514">
                  <c:v>0.91500000000000004</c:v>
                </c:pt>
                <c:pt idx="515">
                  <c:v>0.90900000000000003</c:v>
                </c:pt>
                <c:pt idx="516">
                  <c:v>0.89800000000000002</c:v>
                </c:pt>
                <c:pt idx="517">
                  <c:v>0.89300000000000002</c:v>
                </c:pt>
                <c:pt idx="518">
                  <c:v>0.88300000000000001</c:v>
                </c:pt>
                <c:pt idx="519">
                  <c:v>0.872</c:v>
                </c:pt>
                <c:pt idx="520">
                  <c:v>0.86199999999999999</c:v>
                </c:pt>
                <c:pt idx="521">
                  <c:v>0.85199999999999998</c:v>
                </c:pt>
                <c:pt idx="522">
                  <c:v>0.86499999999999999</c:v>
                </c:pt>
                <c:pt idx="523">
                  <c:v>0.85499999999999998</c:v>
                </c:pt>
                <c:pt idx="524">
                  <c:v>0.86799999999999999</c:v>
                </c:pt>
                <c:pt idx="525">
                  <c:v>0.88</c:v>
                </c:pt>
                <c:pt idx="526">
                  <c:v>0.87</c:v>
                </c:pt>
                <c:pt idx="527">
                  <c:v>0.86</c:v>
                </c:pt>
                <c:pt idx="528">
                  <c:v>0.85</c:v>
                </c:pt>
                <c:pt idx="529">
                  <c:v>0.84099999999999997</c:v>
                </c:pt>
                <c:pt idx="530">
                  <c:v>0.83099999999999996</c:v>
                </c:pt>
                <c:pt idx="531">
                  <c:v>0.82099999999999995</c:v>
                </c:pt>
                <c:pt idx="532">
                  <c:v>0.81200000000000006</c:v>
                </c:pt>
                <c:pt idx="533">
                  <c:v>0.80300000000000005</c:v>
                </c:pt>
                <c:pt idx="534">
                  <c:v>1.411</c:v>
                </c:pt>
                <c:pt idx="535">
                  <c:v>1.395</c:v>
                </c:pt>
                <c:pt idx="536">
                  <c:v>1.379</c:v>
                </c:pt>
                <c:pt idx="537">
                  <c:v>1.444</c:v>
                </c:pt>
                <c:pt idx="538">
                  <c:v>1.427</c:v>
                </c:pt>
                <c:pt idx="539">
                  <c:v>1.411</c:v>
                </c:pt>
                <c:pt idx="540">
                  <c:v>1.395</c:v>
                </c:pt>
                <c:pt idx="541">
                  <c:v>1.379</c:v>
                </c:pt>
                <c:pt idx="542">
                  <c:v>1.363</c:v>
                </c:pt>
                <c:pt idx="543">
                  <c:v>1.427</c:v>
                </c:pt>
                <c:pt idx="544">
                  <c:v>1.411</c:v>
                </c:pt>
                <c:pt idx="545">
                  <c:v>1.395</c:v>
                </c:pt>
                <c:pt idx="546">
                  <c:v>1.379</c:v>
                </c:pt>
                <c:pt idx="547">
                  <c:v>1.37</c:v>
                </c:pt>
                <c:pt idx="548">
                  <c:v>1.361</c:v>
                </c:pt>
                <c:pt idx="549">
                  <c:v>1.345</c:v>
                </c:pt>
                <c:pt idx="550">
                  <c:v>1.33</c:v>
                </c:pt>
                <c:pt idx="551">
                  <c:v>1.343</c:v>
                </c:pt>
                <c:pt idx="552">
                  <c:v>1.367</c:v>
                </c:pt>
                <c:pt idx="553">
                  <c:v>1.351</c:v>
                </c:pt>
                <c:pt idx="554">
                  <c:v>1.54</c:v>
                </c:pt>
                <c:pt idx="555">
                  <c:v>1.522</c:v>
                </c:pt>
                <c:pt idx="556">
                  <c:v>1.5049999999999999</c:v>
                </c:pt>
                <c:pt idx="557">
                  <c:v>1.488</c:v>
                </c:pt>
                <c:pt idx="558">
                  <c:v>1.54</c:v>
                </c:pt>
                <c:pt idx="559">
                  <c:v>1.5369999999999999</c:v>
                </c:pt>
                <c:pt idx="560">
                  <c:v>1.5189999999999999</c:v>
                </c:pt>
                <c:pt idx="561">
                  <c:v>1.516</c:v>
                </c:pt>
                <c:pt idx="562">
                  <c:v>1.512</c:v>
                </c:pt>
                <c:pt idx="563">
                  <c:v>1.4950000000000001</c:v>
                </c:pt>
                <c:pt idx="564">
                  <c:v>1.4810000000000001</c:v>
                </c:pt>
                <c:pt idx="565">
                  <c:v>1.464</c:v>
                </c:pt>
                <c:pt idx="566">
                  <c:v>1.4470000000000001</c:v>
                </c:pt>
                <c:pt idx="567">
                  <c:v>1.43</c:v>
                </c:pt>
                <c:pt idx="568">
                  <c:v>1.4139999999999999</c:v>
                </c:pt>
                <c:pt idx="569">
                  <c:v>1.399</c:v>
                </c:pt>
                <c:pt idx="570">
                  <c:v>1.383</c:v>
                </c:pt>
                <c:pt idx="571">
                  <c:v>1.367</c:v>
                </c:pt>
                <c:pt idx="572">
                  <c:v>1.351</c:v>
                </c:pt>
                <c:pt idx="573">
                  <c:v>1.335</c:v>
                </c:pt>
                <c:pt idx="574">
                  <c:v>1.329</c:v>
                </c:pt>
                <c:pt idx="575">
                  <c:v>1.3180000000000001</c:v>
                </c:pt>
                <c:pt idx="576">
                  <c:v>1.302</c:v>
                </c:pt>
                <c:pt idx="577">
                  <c:v>1.288</c:v>
                </c:pt>
                <c:pt idx="578">
                  <c:v>1.2729999999999999</c:v>
                </c:pt>
                <c:pt idx="579">
                  <c:v>1.258</c:v>
                </c:pt>
                <c:pt idx="580">
                  <c:v>1.2490000000000001</c:v>
                </c:pt>
                <c:pt idx="581">
                  <c:v>1.2350000000000001</c:v>
                </c:pt>
                <c:pt idx="582">
                  <c:v>1.2210000000000001</c:v>
                </c:pt>
                <c:pt idx="583">
                  <c:v>1.2070000000000001</c:v>
                </c:pt>
                <c:pt idx="584">
                  <c:v>1.1930000000000001</c:v>
                </c:pt>
                <c:pt idx="585">
                  <c:v>1.1859999999999999</c:v>
                </c:pt>
                <c:pt idx="586">
                  <c:v>1.173</c:v>
                </c:pt>
                <c:pt idx="587">
                  <c:v>1.159</c:v>
                </c:pt>
                <c:pt idx="588">
                  <c:v>1.1459999999999999</c:v>
                </c:pt>
                <c:pt idx="589">
                  <c:v>1.133</c:v>
                </c:pt>
                <c:pt idx="590">
                  <c:v>1.1200000000000001</c:v>
                </c:pt>
                <c:pt idx="591">
                  <c:v>1.107</c:v>
                </c:pt>
                <c:pt idx="592">
                  <c:v>1.0940000000000001</c:v>
                </c:pt>
                <c:pt idx="593">
                  <c:v>1.0820000000000001</c:v>
                </c:pt>
                <c:pt idx="594">
                  <c:v>1.069</c:v>
                </c:pt>
                <c:pt idx="595">
                  <c:v>1.0569999999999999</c:v>
                </c:pt>
                <c:pt idx="596">
                  <c:v>1.0449999999999999</c:v>
                </c:pt>
                <c:pt idx="597">
                  <c:v>1.0329999999999999</c:v>
                </c:pt>
                <c:pt idx="598">
                  <c:v>1.0209999999999999</c:v>
                </c:pt>
                <c:pt idx="599">
                  <c:v>1.0089999999999999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9F-4319-80B5-F03E3FE47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/>
                  <a:t>seconds into window (stock 0, time_id 297)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crossAx val="2140495176"/>
        <c:crosses val="autoZero"/>
        <c:auto val="1"/>
        <c:lblAlgn val="ctr"/>
        <c:lblOffset val="100"/>
        <c:tickLblSkip val="60"/>
        <c:tickMarkSkip val="6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/>
                  <a:t>basis points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6B728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E1B4B"/>
                </a:solidFill>
              </a:rPr>
              <a:t>Remaining error (bps)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Remaining error (bps)</c:v>
                </c:pt>
              </c:strCache>
            </c:strRef>
          </c:tx>
          <c:spPr>
            <a:solidFill>
              <a:srgbClr val="4338C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E1B4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Start</c:v>
                </c:pt>
                <c:pt idx="1">
                  <c:v>After tree 1</c:v>
                </c:pt>
                <c:pt idx="2">
                  <c:v>After tree 2</c:v>
                </c:pt>
                <c:pt idx="3">
                  <c:v>After tree 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6</c:v>
                </c:pt>
                <c:pt idx="2">
                  <c:v>3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BE-4585-A14B-090A2FD602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CA3A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374151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+mn-lt"/>
              </a:rPr>
              <a:t>Simulated GARCH(1,1) returns: calm vs. turbulent bursts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</c:v>
                </c:pt>
              </c:strCache>
            </c:strRef>
          </c:tx>
          <c:spPr>
            <a:ln w="12700" cap="flat">
              <a:solidFill>
                <a:srgbClr val="4338C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Sheet1!$A$2:$A$301</c:f>
              <c:strCache>
                <c:ptCount val="3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</c:strCache>
            </c:strRef>
          </c:cat>
          <c:val>
            <c:numRef>
              <c:f>Sheet1!$B$2:$B$301</c:f>
              <c:numCache>
                <c:formatCode>General</c:formatCode>
                <c:ptCount val="300"/>
                <c:pt idx="0">
                  <c:v>3.6509999999999998</c:v>
                </c:pt>
                <c:pt idx="1">
                  <c:v>0.59599999999999997</c:v>
                </c:pt>
                <c:pt idx="2">
                  <c:v>-1.129</c:v>
                </c:pt>
                <c:pt idx="3">
                  <c:v>2.7E-2</c:v>
                </c:pt>
                <c:pt idx="4">
                  <c:v>-0.94899999999999995</c:v>
                </c:pt>
                <c:pt idx="5">
                  <c:v>-0.72699999999999998</c:v>
                </c:pt>
                <c:pt idx="6">
                  <c:v>3.9E-2</c:v>
                </c:pt>
                <c:pt idx="7">
                  <c:v>-0.41599999999999998</c:v>
                </c:pt>
                <c:pt idx="8">
                  <c:v>0.85599999999999998</c:v>
                </c:pt>
                <c:pt idx="9">
                  <c:v>-0.89300000000000002</c:v>
                </c:pt>
                <c:pt idx="10">
                  <c:v>0.14599999999999999</c:v>
                </c:pt>
                <c:pt idx="11">
                  <c:v>-1.9690000000000001</c:v>
                </c:pt>
                <c:pt idx="12">
                  <c:v>-0.17100000000000001</c:v>
                </c:pt>
                <c:pt idx="13">
                  <c:v>-0.88200000000000001</c:v>
                </c:pt>
                <c:pt idx="14">
                  <c:v>0.375</c:v>
                </c:pt>
                <c:pt idx="15">
                  <c:v>-0.70699999999999996</c:v>
                </c:pt>
                <c:pt idx="16">
                  <c:v>-0.28199999999999997</c:v>
                </c:pt>
                <c:pt idx="17">
                  <c:v>-0.51600000000000001</c:v>
                </c:pt>
                <c:pt idx="18">
                  <c:v>-0.314</c:v>
                </c:pt>
                <c:pt idx="19">
                  <c:v>-0.27800000000000002</c:v>
                </c:pt>
                <c:pt idx="20">
                  <c:v>0.44800000000000001</c:v>
                </c:pt>
                <c:pt idx="21">
                  <c:v>-0.26500000000000001</c:v>
                </c:pt>
                <c:pt idx="22">
                  <c:v>-0.77500000000000002</c:v>
                </c:pt>
                <c:pt idx="23">
                  <c:v>0.33900000000000002</c:v>
                </c:pt>
                <c:pt idx="24">
                  <c:v>0.28999999999999998</c:v>
                </c:pt>
                <c:pt idx="25">
                  <c:v>-0.53500000000000003</c:v>
                </c:pt>
                <c:pt idx="26">
                  <c:v>0.53800000000000003</c:v>
                </c:pt>
                <c:pt idx="27">
                  <c:v>0.38700000000000001</c:v>
                </c:pt>
                <c:pt idx="28">
                  <c:v>-0.182</c:v>
                </c:pt>
                <c:pt idx="29">
                  <c:v>-0.78</c:v>
                </c:pt>
                <c:pt idx="30">
                  <c:v>-0.94499999999999995</c:v>
                </c:pt>
                <c:pt idx="31">
                  <c:v>7.2999999999999995E-2</c:v>
                </c:pt>
                <c:pt idx="32">
                  <c:v>-0.28399999999999997</c:v>
                </c:pt>
                <c:pt idx="33">
                  <c:v>-0.23</c:v>
                </c:pt>
                <c:pt idx="34">
                  <c:v>-0.58399999999999996</c:v>
                </c:pt>
                <c:pt idx="35">
                  <c:v>-0.27200000000000002</c:v>
                </c:pt>
                <c:pt idx="36">
                  <c:v>-0.16900000000000001</c:v>
                </c:pt>
                <c:pt idx="37">
                  <c:v>-3.0000000000000001E-3</c:v>
                </c:pt>
                <c:pt idx="38">
                  <c:v>-0.33800000000000002</c:v>
                </c:pt>
                <c:pt idx="39">
                  <c:v>-0.63100000000000001</c:v>
                </c:pt>
                <c:pt idx="40">
                  <c:v>0.27700000000000002</c:v>
                </c:pt>
                <c:pt idx="41">
                  <c:v>0.49</c:v>
                </c:pt>
                <c:pt idx="42">
                  <c:v>-1.0549999999999999</c:v>
                </c:pt>
                <c:pt idx="43">
                  <c:v>1.1120000000000001</c:v>
                </c:pt>
                <c:pt idx="44">
                  <c:v>1.2E-2</c:v>
                </c:pt>
                <c:pt idx="45">
                  <c:v>0.40799999999999997</c:v>
                </c:pt>
                <c:pt idx="46">
                  <c:v>-0.70099999999999996</c:v>
                </c:pt>
                <c:pt idx="47">
                  <c:v>1.2</c:v>
                </c:pt>
                <c:pt idx="48">
                  <c:v>0.29499999999999998</c:v>
                </c:pt>
                <c:pt idx="49">
                  <c:v>0.30399999999999999</c:v>
                </c:pt>
                <c:pt idx="50">
                  <c:v>-8.3000000000000004E-2</c:v>
                </c:pt>
                <c:pt idx="51">
                  <c:v>2.1999999999999999E-2</c:v>
                </c:pt>
                <c:pt idx="52">
                  <c:v>1.4450000000000001</c:v>
                </c:pt>
                <c:pt idx="53">
                  <c:v>0.09</c:v>
                </c:pt>
                <c:pt idx="54">
                  <c:v>-0.57499999999999996</c:v>
                </c:pt>
                <c:pt idx="55">
                  <c:v>4.8000000000000001E-2</c:v>
                </c:pt>
                <c:pt idx="56">
                  <c:v>3.2000000000000001E-2</c:v>
                </c:pt>
                <c:pt idx="57">
                  <c:v>0.72699999999999998</c:v>
                </c:pt>
                <c:pt idx="58">
                  <c:v>-1.3919999999999999</c:v>
                </c:pt>
                <c:pt idx="59">
                  <c:v>2.3410000000000002</c:v>
                </c:pt>
                <c:pt idx="60">
                  <c:v>0.93100000000000005</c:v>
                </c:pt>
                <c:pt idx="61">
                  <c:v>2.4470000000000001</c:v>
                </c:pt>
                <c:pt idx="62">
                  <c:v>2.3759999999999999</c:v>
                </c:pt>
                <c:pt idx="63">
                  <c:v>-0.68100000000000005</c:v>
                </c:pt>
                <c:pt idx="64">
                  <c:v>0.38900000000000001</c:v>
                </c:pt>
                <c:pt idx="65">
                  <c:v>-2.1440000000000001</c:v>
                </c:pt>
                <c:pt idx="66">
                  <c:v>0.42499999999999999</c:v>
                </c:pt>
                <c:pt idx="67">
                  <c:v>-0.254</c:v>
                </c:pt>
                <c:pt idx="68">
                  <c:v>1.458</c:v>
                </c:pt>
                <c:pt idx="69">
                  <c:v>2.351</c:v>
                </c:pt>
                <c:pt idx="70">
                  <c:v>-1.111</c:v>
                </c:pt>
                <c:pt idx="71">
                  <c:v>0.65</c:v>
                </c:pt>
                <c:pt idx="72">
                  <c:v>0.42699999999999999</c:v>
                </c:pt>
                <c:pt idx="73">
                  <c:v>0.14499999999999999</c:v>
                </c:pt>
                <c:pt idx="74">
                  <c:v>-0.748</c:v>
                </c:pt>
                <c:pt idx="75">
                  <c:v>-0.26200000000000001</c:v>
                </c:pt>
                <c:pt idx="76">
                  <c:v>-0.42399999999999999</c:v>
                </c:pt>
                <c:pt idx="77">
                  <c:v>-1.4059999999999999</c:v>
                </c:pt>
                <c:pt idx="78">
                  <c:v>-0.48199999999999998</c:v>
                </c:pt>
                <c:pt idx="79">
                  <c:v>-1.0489999999999999</c:v>
                </c:pt>
                <c:pt idx="80">
                  <c:v>-0.40300000000000002</c:v>
                </c:pt>
                <c:pt idx="81">
                  <c:v>-0.67800000000000005</c:v>
                </c:pt>
                <c:pt idx="82">
                  <c:v>-0.63100000000000001</c:v>
                </c:pt>
                <c:pt idx="83">
                  <c:v>0.154</c:v>
                </c:pt>
                <c:pt idx="84">
                  <c:v>0.56399999999999995</c:v>
                </c:pt>
                <c:pt idx="85">
                  <c:v>0.106</c:v>
                </c:pt>
                <c:pt idx="86">
                  <c:v>0.47899999999999998</c:v>
                </c:pt>
                <c:pt idx="87">
                  <c:v>-0.83199999999999996</c:v>
                </c:pt>
                <c:pt idx="88">
                  <c:v>0.52200000000000002</c:v>
                </c:pt>
                <c:pt idx="89">
                  <c:v>0.34799999999999998</c:v>
                </c:pt>
                <c:pt idx="90">
                  <c:v>0.45900000000000002</c:v>
                </c:pt>
                <c:pt idx="91">
                  <c:v>-0.629</c:v>
                </c:pt>
                <c:pt idx="92">
                  <c:v>-0.75</c:v>
                </c:pt>
                <c:pt idx="93">
                  <c:v>-0.34499999999999997</c:v>
                </c:pt>
                <c:pt idx="94">
                  <c:v>0.51200000000000001</c:v>
                </c:pt>
                <c:pt idx="95">
                  <c:v>-1.014</c:v>
                </c:pt>
                <c:pt idx="96">
                  <c:v>-0.221</c:v>
                </c:pt>
                <c:pt idx="97">
                  <c:v>9.8000000000000004E-2</c:v>
                </c:pt>
                <c:pt idx="98">
                  <c:v>-0.54600000000000004</c:v>
                </c:pt>
                <c:pt idx="99">
                  <c:v>0.215</c:v>
                </c:pt>
                <c:pt idx="100">
                  <c:v>0.34</c:v>
                </c:pt>
                <c:pt idx="101">
                  <c:v>-0.112</c:v>
                </c:pt>
                <c:pt idx="102">
                  <c:v>0.16800000000000001</c:v>
                </c:pt>
                <c:pt idx="103">
                  <c:v>-0.33600000000000002</c:v>
                </c:pt>
                <c:pt idx="104">
                  <c:v>0.35899999999999999</c:v>
                </c:pt>
                <c:pt idx="105">
                  <c:v>0.92600000000000005</c:v>
                </c:pt>
                <c:pt idx="106">
                  <c:v>1.079</c:v>
                </c:pt>
                <c:pt idx="107">
                  <c:v>1.5489999999999999</c:v>
                </c:pt>
                <c:pt idx="108">
                  <c:v>0.80600000000000005</c:v>
                </c:pt>
                <c:pt idx="109">
                  <c:v>1.032</c:v>
                </c:pt>
                <c:pt idx="110">
                  <c:v>-0.71299999999999997</c:v>
                </c:pt>
                <c:pt idx="111">
                  <c:v>-1.3959999999999999</c:v>
                </c:pt>
                <c:pt idx="112">
                  <c:v>-9.1999999999999998E-2</c:v>
                </c:pt>
                <c:pt idx="113">
                  <c:v>0.12</c:v>
                </c:pt>
                <c:pt idx="114">
                  <c:v>-0.98499999999999999</c:v>
                </c:pt>
                <c:pt idx="115">
                  <c:v>0.253</c:v>
                </c:pt>
                <c:pt idx="116">
                  <c:v>0.52500000000000002</c:v>
                </c:pt>
                <c:pt idx="117">
                  <c:v>1.367</c:v>
                </c:pt>
                <c:pt idx="118">
                  <c:v>0.73899999999999999</c:v>
                </c:pt>
                <c:pt idx="119">
                  <c:v>-1.228</c:v>
                </c:pt>
                <c:pt idx="120">
                  <c:v>1.5309999999999999</c:v>
                </c:pt>
                <c:pt idx="121">
                  <c:v>-0.99199999999999999</c:v>
                </c:pt>
                <c:pt idx="122">
                  <c:v>-1.0900000000000001</c:v>
                </c:pt>
                <c:pt idx="123">
                  <c:v>0.10100000000000001</c:v>
                </c:pt>
                <c:pt idx="124">
                  <c:v>-0.502</c:v>
                </c:pt>
                <c:pt idx="125">
                  <c:v>3.036</c:v>
                </c:pt>
                <c:pt idx="126">
                  <c:v>1.518</c:v>
                </c:pt>
                <c:pt idx="127">
                  <c:v>2.0790000000000002</c:v>
                </c:pt>
                <c:pt idx="128">
                  <c:v>9.0999999999999998E-2</c:v>
                </c:pt>
                <c:pt idx="129">
                  <c:v>1.081</c:v>
                </c:pt>
                <c:pt idx="130">
                  <c:v>0.11600000000000001</c:v>
                </c:pt>
                <c:pt idx="131">
                  <c:v>-1.0169999999999999</c:v>
                </c:pt>
                <c:pt idx="132">
                  <c:v>-1.4730000000000001</c:v>
                </c:pt>
                <c:pt idx="133">
                  <c:v>-1.472</c:v>
                </c:pt>
                <c:pt idx="134">
                  <c:v>-0.23899999999999999</c:v>
                </c:pt>
                <c:pt idx="135">
                  <c:v>-0.72099999999999997</c:v>
                </c:pt>
                <c:pt idx="136">
                  <c:v>0.67800000000000005</c:v>
                </c:pt>
                <c:pt idx="137">
                  <c:v>0.63200000000000001</c:v>
                </c:pt>
                <c:pt idx="138">
                  <c:v>-1.339</c:v>
                </c:pt>
                <c:pt idx="139">
                  <c:v>0.317</c:v>
                </c:pt>
                <c:pt idx="140">
                  <c:v>1.286</c:v>
                </c:pt>
                <c:pt idx="141">
                  <c:v>1.1439999999999999</c:v>
                </c:pt>
                <c:pt idx="142">
                  <c:v>-6.6000000000000003E-2</c:v>
                </c:pt>
                <c:pt idx="143">
                  <c:v>7.0000000000000007E-2</c:v>
                </c:pt>
                <c:pt idx="144">
                  <c:v>0.124</c:v>
                </c:pt>
                <c:pt idx="145">
                  <c:v>0.46899999999999997</c:v>
                </c:pt>
                <c:pt idx="146">
                  <c:v>0.11</c:v>
                </c:pt>
                <c:pt idx="147">
                  <c:v>-0.182</c:v>
                </c:pt>
                <c:pt idx="148">
                  <c:v>-0.79100000000000004</c:v>
                </c:pt>
                <c:pt idx="149">
                  <c:v>-0.36899999999999999</c:v>
                </c:pt>
                <c:pt idx="150">
                  <c:v>-4.9000000000000002E-2</c:v>
                </c:pt>
                <c:pt idx="151">
                  <c:v>-0.55300000000000005</c:v>
                </c:pt>
                <c:pt idx="152">
                  <c:v>0.35899999999999999</c:v>
                </c:pt>
                <c:pt idx="153">
                  <c:v>0.08</c:v>
                </c:pt>
                <c:pt idx="154">
                  <c:v>0.128</c:v>
                </c:pt>
                <c:pt idx="155">
                  <c:v>-0.36599999999999999</c:v>
                </c:pt>
                <c:pt idx="156">
                  <c:v>0.22700000000000001</c:v>
                </c:pt>
                <c:pt idx="157">
                  <c:v>0.77400000000000002</c:v>
                </c:pt>
                <c:pt idx="158">
                  <c:v>1.508</c:v>
                </c:pt>
                <c:pt idx="159">
                  <c:v>1.056</c:v>
                </c:pt>
                <c:pt idx="160">
                  <c:v>0.56699999999999995</c:v>
                </c:pt>
                <c:pt idx="161">
                  <c:v>0.35599999999999998</c:v>
                </c:pt>
                <c:pt idx="162">
                  <c:v>-7.8E-2</c:v>
                </c:pt>
                <c:pt idx="163">
                  <c:v>1.008</c:v>
                </c:pt>
                <c:pt idx="164">
                  <c:v>0.74299999999999999</c:v>
                </c:pt>
                <c:pt idx="165">
                  <c:v>-0.41899999999999998</c:v>
                </c:pt>
                <c:pt idx="166">
                  <c:v>0.39100000000000001</c:v>
                </c:pt>
                <c:pt idx="167">
                  <c:v>-0.23400000000000001</c:v>
                </c:pt>
                <c:pt idx="168">
                  <c:v>-0.19900000000000001</c:v>
                </c:pt>
                <c:pt idx="169">
                  <c:v>0.11600000000000001</c:v>
                </c:pt>
                <c:pt idx="170">
                  <c:v>-5.3999999999999999E-2</c:v>
                </c:pt>
                <c:pt idx="171">
                  <c:v>0.49</c:v>
                </c:pt>
                <c:pt idx="172">
                  <c:v>-1.123</c:v>
                </c:pt>
                <c:pt idx="173">
                  <c:v>-1.042</c:v>
                </c:pt>
                <c:pt idx="174">
                  <c:v>0.21</c:v>
                </c:pt>
                <c:pt idx="175">
                  <c:v>-0.47799999999999998</c:v>
                </c:pt>
                <c:pt idx="176">
                  <c:v>0.03</c:v>
                </c:pt>
                <c:pt idx="177">
                  <c:v>0.27800000000000002</c:v>
                </c:pt>
                <c:pt idx="178">
                  <c:v>-0.45600000000000002</c:v>
                </c:pt>
                <c:pt idx="179">
                  <c:v>-0.23</c:v>
                </c:pt>
                <c:pt idx="180">
                  <c:v>0.315</c:v>
                </c:pt>
                <c:pt idx="181">
                  <c:v>-0.24099999999999999</c:v>
                </c:pt>
                <c:pt idx="182">
                  <c:v>-0.316</c:v>
                </c:pt>
                <c:pt idx="183">
                  <c:v>7.4999999999999997E-2</c:v>
                </c:pt>
                <c:pt idx="184">
                  <c:v>0.35799999999999998</c:v>
                </c:pt>
                <c:pt idx="185">
                  <c:v>0.108</c:v>
                </c:pt>
                <c:pt idx="186">
                  <c:v>0.23499999999999999</c:v>
                </c:pt>
                <c:pt idx="187">
                  <c:v>0.97499999999999998</c:v>
                </c:pt>
                <c:pt idx="188">
                  <c:v>0.16900000000000001</c:v>
                </c:pt>
                <c:pt idx="189">
                  <c:v>-9.7000000000000003E-2</c:v>
                </c:pt>
                <c:pt idx="190">
                  <c:v>0.13100000000000001</c:v>
                </c:pt>
                <c:pt idx="191">
                  <c:v>-2.7E-2</c:v>
                </c:pt>
                <c:pt idx="192">
                  <c:v>0.90600000000000003</c:v>
                </c:pt>
                <c:pt idx="193">
                  <c:v>-0.67100000000000004</c:v>
                </c:pt>
                <c:pt idx="194">
                  <c:v>-0.53300000000000003</c:v>
                </c:pt>
                <c:pt idx="195">
                  <c:v>0.107</c:v>
                </c:pt>
                <c:pt idx="196">
                  <c:v>1.353</c:v>
                </c:pt>
                <c:pt idx="197">
                  <c:v>-1.093</c:v>
                </c:pt>
                <c:pt idx="198">
                  <c:v>0.34699999999999998</c:v>
                </c:pt>
                <c:pt idx="199">
                  <c:v>-0.6</c:v>
                </c:pt>
                <c:pt idx="200">
                  <c:v>-0.47899999999999998</c:v>
                </c:pt>
                <c:pt idx="201">
                  <c:v>0.69799999999999995</c:v>
                </c:pt>
                <c:pt idx="202">
                  <c:v>0.51</c:v>
                </c:pt>
                <c:pt idx="203">
                  <c:v>-0.46700000000000003</c:v>
                </c:pt>
                <c:pt idx="204">
                  <c:v>0.219</c:v>
                </c:pt>
                <c:pt idx="205">
                  <c:v>-0.22700000000000001</c:v>
                </c:pt>
                <c:pt idx="206">
                  <c:v>-0.53900000000000003</c:v>
                </c:pt>
                <c:pt idx="207">
                  <c:v>-0.53</c:v>
                </c:pt>
                <c:pt idx="208">
                  <c:v>0.54100000000000004</c:v>
                </c:pt>
                <c:pt idx="209">
                  <c:v>1.2929999999999999</c:v>
                </c:pt>
                <c:pt idx="210">
                  <c:v>-0.60599999999999998</c:v>
                </c:pt>
                <c:pt idx="211">
                  <c:v>-0.84799999999999998</c:v>
                </c:pt>
                <c:pt idx="212">
                  <c:v>1.4670000000000001</c:v>
                </c:pt>
                <c:pt idx="213">
                  <c:v>1.6220000000000001</c:v>
                </c:pt>
                <c:pt idx="214">
                  <c:v>0.50900000000000001</c:v>
                </c:pt>
                <c:pt idx="215">
                  <c:v>-0.28899999999999998</c:v>
                </c:pt>
                <c:pt idx="216">
                  <c:v>1.0209999999999999</c:v>
                </c:pt>
                <c:pt idx="217">
                  <c:v>0.61899999999999999</c:v>
                </c:pt>
                <c:pt idx="218">
                  <c:v>2.8000000000000001E-2</c:v>
                </c:pt>
                <c:pt idx="219">
                  <c:v>-0.70799999999999996</c:v>
                </c:pt>
                <c:pt idx="220">
                  <c:v>1.008</c:v>
                </c:pt>
                <c:pt idx="221">
                  <c:v>1.6E-2</c:v>
                </c:pt>
                <c:pt idx="222">
                  <c:v>0.84</c:v>
                </c:pt>
                <c:pt idx="223">
                  <c:v>-0.216</c:v>
                </c:pt>
                <c:pt idx="224">
                  <c:v>-0.29099999999999998</c:v>
                </c:pt>
                <c:pt idx="225">
                  <c:v>0.89700000000000002</c:v>
                </c:pt>
                <c:pt idx="226">
                  <c:v>-0.17599999999999999</c:v>
                </c:pt>
                <c:pt idx="227">
                  <c:v>0.57199999999999995</c:v>
                </c:pt>
                <c:pt idx="228">
                  <c:v>0.17399999999999999</c:v>
                </c:pt>
                <c:pt idx="229">
                  <c:v>0.49399999999999999</c:v>
                </c:pt>
                <c:pt idx="230">
                  <c:v>-0.127</c:v>
                </c:pt>
                <c:pt idx="231">
                  <c:v>-0.23699999999999999</c:v>
                </c:pt>
                <c:pt idx="232">
                  <c:v>0.17299999999999999</c:v>
                </c:pt>
                <c:pt idx="233">
                  <c:v>-0.186</c:v>
                </c:pt>
                <c:pt idx="234">
                  <c:v>-0.35499999999999998</c:v>
                </c:pt>
                <c:pt idx="235">
                  <c:v>0.18</c:v>
                </c:pt>
                <c:pt idx="236">
                  <c:v>0.155</c:v>
                </c:pt>
                <c:pt idx="237">
                  <c:v>0.93700000000000006</c:v>
                </c:pt>
                <c:pt idx="238">
                  <c:v>0.23899999999999999</c:v>
                </c:pt>
                <c:pt idx="239">
                  <c:v>0.34</c:v>
                </c:pt>
                <c:pt idx="240">
                  <c:v>0.11899999999999999</c:v>
                </c:pt>
                <c:pt idx="241">
                  <c:v>-0.89800000000000002</c:v>
                </c:pt>
                <c:pt idx="242">
                  <c:v>-0.57599999999999996</c:v>
                </c:pt>
                <c:pt idx="243">
                  <c:v>5.0000000000000001E-3</c:v>
                </c:pt>
                <c:pt idx="244">
                  <c:v>-0.505</c:v>
                </c:pt>
                <c:pt idx="245">
                  <c:v>2.3E-2</c:v>
                </c:pt>
                <c:pt idx="246">
                  <c:v>6.5000000000000002E-2</c:v>
                </c:pt>
                <c:pt idx="247">
                  <c:v>-2.4E-2</c:v>
                </c:pt>
                <c:pt idx="248">
                  <c:v>-0.49199999999999999</c:v>
                </c:pt>
                <c:pt idx="249">
                  <c:v>-0.17399999999999999</c:v>
                </c:pt>
                <c:pt idx="250">
                  <c:v>-0.63700000000000001</c:v>
                </c:pt>
                <c:pt idx="251">
                  <c:v>-0.38</c:v>
                </c:pt>
                <c:pt idx="252">
                  <c:v>0.30399999999999999</c:v>
                </c:pt>
                <c:pt idx="253">
                  <c:v>0.69599999999999995</c:v>
                </c:pt>
                <c:pt idx="254">
                  <c:v>-0.56200000000000006</c:v>
                </c:pt>
                <c:pt idx="255">
                  <c:v>-0.185</c:v>
                </c:pt>
                <c:pt idx="256">
                  <c:v>-0.441</c:v>
                </c:pt>
                <c:pt idx="257">
                  <c:v>0.53500000000000003</c:v>
                </c:pt>
                <c:pt idx="258">
                  <c:v>1.038</c:v>
                </c:pt>
                <c:pt idx="259">
                  <c:v>-0.56599999999999995</c:v>
                </c:pt>
                <c:pt idx="260">
                  <c:v>-0.94899999999999995</c:v>
                </c:pt>
                <c:pt idx="261">
                  <c:v>-0.91400000000000003</c:v>
                </c:pt>
                <c:pt idx="262">
                  <c:v>0.85199999999999998</c:v>
                </c:pt>
                <c:pt idx="263">
                  <c:v>-0.40200000000000002</c:v>
                </c:pt>
                <c:pt idx="264">
                  <c:v>0.438</c:v>
                </c:pt>
                <c:pt idx="265">
                  <c:v>0.28399999999999997</c:v>
                </c:pt>
                <c:pt idx="266">
                  <c:v>-0.59899999999999998</c:v>
                </c:pt>
                <c:pt idx="267">
                  <c:v>0.11</c:v>
                </c:pt>
                <c:pt idx="268">
                  <c:v>0.51600000000000001</c:v>
                </c:pt>
                <c:pt idx="269">
                  <c:v>0.40600000000000003</c:v>
                </c:pt>
                <c:pt idx="270">
                  <c:v>-5.1999999999999998E-2</c:v>
                </c:pt>
                <c:pt idx="271">
                  <c:v>-0.252</c:v>
                </c:pt>
                <c:pt idx="272">
                  <c:v>-3.7999999999999999E-2</c:v>
                </c:pt>
                <c:pt idx="273">
                  <c:v>5.5E-2</c:v>
                </c:pt>
                <c:pt idx="274">
                  <c:v>-0.40400000000000003</c:v>
                </c:pt>
                <c:pt idx="275">
                  <c:v>0.23899999999999999</c:v>
                </c:pt>
                <c:pt idx="276">
                  <c:v>-0.40200000000000002</c:v>
                </c:pt>
                <c:pt idx="277">
                  <c:v>-0.86399999999999999</c:v>
                </c:pt>
                <c:pt idx="278">
                  <c:v>0.16500000000000001</c:v>
                </c:pt>
                <c:pt idx="279">
                  <c:v>-0.14899999999999999</c:v>
                </c:pt>
                <c:pt idx="280">
                  <c:v>0.54200000000000004</c:v>
                </c:pt>
                <c:pt idx="281">
                  <c:v>0.84399999999999997</c:v>
                </c:pt>
                <c:pt idx="282">
                  <c:v>-0.47799999999999998</c:v>
                </c:pt>
                <c:pt idx="283">
                  <c:v>-0.21299999999999999</c:v>
                </c:pt>
                <c:pt idx="284">
                  <c:v>0.49099999999999999</c:v>
                </c:pt>
                <c:pt idx="285">
                  <c:v>0.48499999999999999</c:v>
                </c:pt>
                <c:pt idx="286">
                  <c:v>-0.14499999999999999</c:v>
                </c:pt>
                <c:pt idx="287">
                  <c:v>0.11899999999999999</c:v>
                </c:pt>
                <c:pt idx="288">
                  <c:v>-0.47599999999999998</c:v>
                </c:pt>
                <c:pt idx="289">
                  <c:v>0.69699999999999995</c:v>
                </c:pt>
                <c:pt idx="290">
                  <c:v>-0.18099999999999999</c:v>
                </c:pt>
                <c:pt idx="291">
                  <c:v>-4.3999999999999997E-2</c:v>
                </c:pt>
                <c:pt idx="292">
                  <c:v>0.38300000000000001</c:v>
                </c:pt>
                <c:pt idx="293">
                  <c:v>-0.40799999999999997</c:v>
                </c:pt>
                <c:pt idx="294">
                  <c:v>4.8000000000000001E-2</c:v>
                </c:pt>
                <c:pt idx="295">
                  <c:v>-0.59799999999999998</c:v>
                </c:pt>
                <c:pt idx="296">
                  <c:v>-1.2170000000000001</c:v>
                </c:pt>
                <c:pt idx="297">
                  <c:v>0.254</c:v>
                </c:pt>
                <c:pt idx="298">
                  <c:v>-0.49299999999999999</c:v>
                </c:pt>
                <c:pt idx="299">
                  <c:v>-0.55500000000000005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91-44D7-A41B-072A52215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 b="1">
                <a:solidFill>
                  <a:srgbClr val="1E1B4B"/>
                </a:solidFill>
              </a:rPr>
              <a:t>RMSPE (lower is better)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RMSPE</c:v>
                </c:pt>
              </c:strCache>
            </c:strRef>
          </c:tx>
          <c:spPr>
            <a:solidFill>
              <a:srgbClr val="4338CA"/>
            </a:solidFill>
          </c:spPr>
          <c:invertIfNegative val="1"/>
          <c:dPt>
            <c:idx val="4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982E-4E6C-8FD3-7DEADFD1A1E5}"/>
              </c:ext>
            </c:extLst>
          </c:dPt>
          <c:dPt>
            <c:idx val="5"/>
            <c:invertIfNegative val="1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982E-4E6C-8FD3-7DEADFD1A1E5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F293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Naive</c:v>
                </c:pt>
                <c:pt idx="1">
                  <c:v>GARCH(1,1)</c:v>
                </c:pt>
                <c:pt idx="2">
                  <c:v>Random Forest</c:v>
                </c:pt>
                <c:pt idx="3">
                  <c:v>XGBoost</c:v>
                </c:pt>
                <c:pt idx="4">
                  <c:v>GARCH + XGBoost</c:v>
                </c:pt>
                <c:pt idx="5">
                  <c:v>GARCH + 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0.32100000000000001</c:v>
                </c:pt>
                <c:pt idx="1">
                  <c:v>0.28799999999999998</c:v>
                </c:pt>
                <c:pt idx="2">
                  <c:v>0.23899999999999999</c:v>
                </c:pt>
                <c:pt idx="3">
                  <c:v>0.23699999999999999</c:v>
                </c:pt>
                <c:pt idx="4">
                  <c:v>0.23400000000000001</c:v>
                </c:pt>
                <c:pt idx="5">
                  <c:v>0.23400000000000001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82E-4E6C-8FD3-7DEADFD1A1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36"/>
          <c:min val="0"/>
        </c:scaling>
        <c:delete val="1"/>
        <c:axPos val="t"/>
        <c:majorGridlines>
          <c:spPr>
            <a:ln>
              <a:solidFill>
                <a:srgbClr val="E5E7EB"/>
              </a:solidFill>
            </a:ln>
          </c:spPr>
        </c:majorGridlines>
        <c:numFmt formatCode="0.0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B5563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51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4200" dirty="0"/>
          </a:p>
        </p:txBody>
      </p:sp>
      <p:sp>
        <p:nvSpPr>
          <p:cNvPr id="3" name="Text 0"/>
          <p:cNvSpPr>
            <a:spLocks noGrp="1"/>
          </p:cNvSpPr>
          <p:nvPr>
            <p:ph type="body" idx="104" hasCustomPrompt="1"/>
          </p:nvPr>
        </p:nvSpPr>
        <p:spPr>
          <a:xfrm>
            <a:off x="822960" y="3200400"/>
            <a:ext cx="1054303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b="1" kern="0" spc="3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822960" y="397764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i="1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</a:rPr>
              <a:t>IITG.AI  ·  Time Series Workshop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optiver-realized-volatility-prediction/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hyperlink" Target="https://www.kaggle.com/competitions/optiver-realized-volatility-prediction/data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optiver-realized-volatility-prediction/data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bg1"/>
                </a:solidFill>
              </a:rPr>
              <a:t>Time Series Forecasting on Order Book Data</a:t>
            </a:r>
            <a:endParaRPr lang="en-US" sz="4200" dirty="0"/>
          </a:p>
        </p:txBody>
      </p:sp>
      <p:sp>
        <p:nvSpPr>
          <p:cNvPr id="3" name="Text 0"/>
          <p:cNvSpPr>
            <a:spLocks noGrp="1"/>
          </p:cNvSpPr>
          <p:nvPr>
            <p:ph type="body" idx="104" hasCustomPrompt="1"/>
          </p:nvPr>
        </p:nvSpPr>
        <p:spPr>
          <a:xfrm>
            <a:off x="822960" y="320040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</a:rPr>
              <a:t>From Cleaning to Classical ML, Stats Models, and Hybrid Neural Nets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Workshop: IITG.AI 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Dataset: Optiver Realized Volatility Prediction (Kaggle)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Agenda: what we'll build, in order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2588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number"/>
          <p:cNvSpPr/>
          <p:nvPr/>
        </p:nvSpPr>
        <p:spPr>
          <a:xfrm>
            <a:off x="749808" y="160934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Order book basics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what the raw data actually is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3374136" y="132588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 number"/>
          <p:cNvSpPr/>
          <p:nvPr/>
        </p:nvSpPr>
        <p:spPr>
          <a:xfrm>
            <a:off x="3575304" y="160934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3575304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151376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Cleaning &amp; avoiding lookahead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602736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mistakes that quietly ruin backtests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199632" y="132588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 number"/>
          <p:cNvSpPr/>
          <p:nvPr/>
        </p:nvSpPr>
        <p:spPr>
          <a:xfrm>
            <a:off x="6400800" y="160934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6400800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76872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Feature engineering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28232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log returns, imbalance, lags &amp; EWMA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9025128" y="132588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ard number"/>
          <p:cNvSpPr/>
          <p:nvPr/>
        </p:nvSpPr>
        <p:spPr>
          <a:xfrm>
            <a:off x="9226296" y="160934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9226296" y="1609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802368" y="1508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Classical ML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253728" y="2194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Random Forest and XGBoost on engineered features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1961388" y="329184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Card number"/>
          <p:cNvSpPr/>
          <p:nvPr/>
        </p:nvSpPr>
        <p:spPr>
          <a:xfrm>
            <a:off x="2162556" y="35753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2162556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2738628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Stats models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2189988" y="4160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GARCH: modelling volatility clustering</a:t>
            </a:r>
            <a:endParaRPr lang="en-US" sz="1500" dirty="0"/>
          </a:p>
        </p:txBody>
      </p:sp>
      <p:sp>
        <p:nvSpPr>
          <p:cNvPr id="30" name="Card"/>
          <p:cNvSpPr/>
          <p:nvPr/>
        </p:nvSpPr>
        <p:spPr>
          <a:xfrm>
            <a:off x="4786884" y="329184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Card number"/>
          <p:cNvSpPr/>
          <p:nvPr/>
        </p:nvSpPr>
        <p:spPr>
          <a:xfrm>
            <a:off x="4988052" y="35753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4988052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564124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Hybrid model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015484" y="4160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residual fitting: GARCH + neural net</a:t>
            </a:r>
            <a:endParaRPr lang="en-US" sz="1500" dirty="0"/>
          </a:p>
        </p:txBody>
      </p:sp>
      <p:sp>
        <p:nvSpPr>
          <p:cNvPr id="35" name="Card"/>
          <p:cNvSpPr/>
          <p:nvPr/>
        </p:nvSpPr>
        <p:spPr>
          <a:xfrm>
            <a:off x="7612380" y="3291840"/>
            <a:ext cx="26060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Card number"/>
          <p:cNvSpPr/>
          <p:nvPr/>
        </p:nvSpPr>
        <p:spPr>
          <a:xfrm>
            <a:off x="7813548" y="357530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7813548" y="3575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8389620" y="34747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Wrap-up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840980" y="4160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when to reach for which tool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Every section:</a:t>
            </a:r>
            <a:endParaRPr lang="en-US" sz="1600" dirty="0"/>
          </a:p>
        </p:txBody>
      </p:sp>
      <p:sp>
        <p:nvSpPr>
          <p:cNvPr id="41" name="Flow box"/>
          <p:cNvSpPr txBox="1"/>
          <p:nvPr/>
        </p:nvSpPr>
        <p:spPr>
          <a:xfrm>
            <a:off x="2240280" y="5440680"/>
            <a:ext cx="18288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concept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4114800" y="571500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3" name="Flow box"/>
          <p:cNvSpPr txBox="1"/>
          <p:nvPr/>
        </p:nvSpPr>
        <p:spPr>
          <a:xfrm>
            <a:off x="4572000" y="5440680"/>
            <a:ext cx="18288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code pattern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6446520" y="5715000"/>
            <a:ext cx="4114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Flow box"/>
          <p:cNvSpPr txBox="1"/>
          <p:nvPr/>
        </p:nvSpPr>
        <p:spPr>
          <a:xfrm>
            <a:off x="6903720" y="5440680"/>
            <a:ext cx="18288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pitfall</a:t>
            </a:r>
            <a:endParaRPr lang="en-US" sz="15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Order Book Basics &amp; The Dataset</a:t>
            </a:r>
            <a:endParaRPr lang="en-US" sz="4000" dirty="0"/>
          </a:p>
        </p:txBody>
      </p:sp>
      <p:sp>
        <p:nvSpPr>
          <p:cNvPr id="5" name="Part number"/>
          <p:cNvSpPr txBox="1"/>
          <p:nvPr/>
        </p:nvSpPr>
        <p:spPr>
          <a:xfrm>
            <a:off x="822960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alpha val="22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Anatomy of a limit order book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371600"/>
            <a:ext cx="630936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Bid side</a:t>
            </a:r>
            <a:r>
              <a:rPr lang="en-US" sz="1700" dirty="0">
                <a:solidFill>
                  <a:schemeClr val="tx1"/>
                </a:solidFill>
              </a:rPr>
              <a:t>: resting buy orders, sorted highest price first.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Ask side</a:t>
            </a:r>
            <a:r>
              <a:rPr lang="en-US" sz="1700" dirty="0">
                <a:solidFill>
                  <a:schemeClr val="tx1"/>
                </a:solidFill>
              </a:rPr>
              <a:t>: resting sell orders, sorted lowest price first.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Best bid / best ask</a:t>
            </a:r>
            <a:r>
              <a:rPr lang="en-US" sz="1700" dirty="0">
                <a:solidFill>
                  <a:schemeClr val="tx1"/>
                </a:solidFill>
              </a:rPr>
              <a:t>: top of each side. </a:t>
            </a:r>
            <a:r>
              <a:rPr lang="en-US" sz="1700" b="1" dirty="0">
                <a:solidFill>
                  <a:schemeClr val="accent1"/>
                </a:solidFill>
              </a:rPr>
              <a:t>Spread</a:t>
            </a:r>
            <a:r>
              <a:rPr lang="en-US" sz="1700" dirty="0">
                <a:solidFill>
                  <a:schemeClr val="tx1"/>
                </a:solidFill>
              </a:rPr>
              <a:t> = ask − bid.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Mid price</a:t>
            </a:r>
            <a:r>
              <a:rPr lang="en-US" sz="1700" dirty="0">
                <a:solidFill>
                  <a:schemeClr val="tx1"/>
                </a:solidFill>
              </a:rPr>
              <a:t>: (best bid + best ask) / 2 — the reference price we'll forecast, </a:t>
            </a:r>
            <a:r>
              <a:rPr lang="en-US" sz="1700" i="1" dirty="0">
                <a:solidFill>
                  <a:schemeClr val="tx1"/>
                </a:solidFill>
              </a:rPr>
              <a:t>not</a:t>
            </a:r>
            <a:r>
              <a:rPr lang="en-US" sz="1700" dirty="0">
                <a:solidFill>
                  <a:schemeClr val="tx1"/>
                </a:solidFill>
              </a:rPr>
              <a:t> the traded price.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Depth</a:t>
            </a:r>
            <a:r>
              <a:rPr lang="en-US" sz="1700" dirty="0">
                <a:solidFill>
                  <a:schemeClr val="tx1"/>
                </a:solidFill>
              </a:rPr>
              <a:t>: total size resting at each level — a liquidity signal, not just a price signal.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Every trade, cancel, or new order </a:t>
            </a:r>
            <a:r>
              <a:rPr lang="en-US" sz="1700" b="1" dirty="0">
                <a:solidFill>
                  <a:schemeClr val="accent1"/>
                </a:solidFill>
              </a:rPr>
              <a:t>re-sorts</a:t>
            </a:r>
            <a:r>
              <a:rPr lang="en-US" sz="1700" dirty="0">
                <a:solidFill>
                  <a:schemeClr val="tx1"/>
                </a:solidFill>
              </a:rPr>
              <a:t> the book: this is why LOB data is an </a:t>
            </a:r>
            <a:r>
              <a:rPr lang="en-US" sz="1700" i="1" dirty="0">
                <a:solidFill>
                  <a:schemeClr val="tx1"/>
                </a:solidFill>
              </a:rPr>
              <a:t>event stream</a:t>
            </a:r>
            <a:r>
              <a:rPr lang="en-US" sz="1700" dirty="0">
                <a:solidFill>
                  <a:schemeClr val="tx1"/>
                </a:solidFill>
              </a:rPr>
              <a:t>, not a fixed-frequency series.</a:t>
            </a:r>
            <a:endParaRPr lang="en-US" sz="1700" dirty="0"/>
          </a:p>
        </p:txBody>
      </p:sp>
      <p:sp>
        <p:nvSpPr>
          <p:cNvPr id="6" name="LOB panel"/>
          <p:cNvSpPr/>
          <p:nvPr/>
        </p:nvSpPr>
        <p:spPr>
          <a:xfrm>
            <a:off x="7086600" y="1325880"/>
            <a:ext cx="4572000" cy="489204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1024128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</a:rPr>
              <a:t>ASK</a:t>
            </a:r>
            <a:r>
              <a:rPr lang="en-US" sz="1200" dirty="0">
                <a:solidFill>
                  <a:schemeClr val="accent2"/>
                </a:solidFill>
              </a:rPr>
              <a:t> (sellers)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160020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100.04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1636776"/>
            <a:ext cx="822960" cy="256032"/>
          </a:xfrm>
          <a:prstGeom prst="rect">
            <a:avLst/>
          </a:prstGeom>
          <a:solidFill>
            <a:schemeClr val="accent2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315200" y="19842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100.03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03920" y="2020824"/>
            <a:ext cx="1440180" cy="256032"/>
          </a:xfrm>
          <a:prstGeom prst="rect">
            <a:avLst/>
          </a:prstGeom>
          <a:solidFill>
            <a:schemeClr val="accent2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7315200" y="236829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100.02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03920" y="2404872"/>
            <a:ext cx="1028700" cy="256032"/>
          </a:xfrm>
          <a:prstGeom prst="rect">
            <a:avLst/>
          </a:prstGeom>
          <a:solidFill>
            <a:schemeClr val="accent2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7315200" y="275234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100.01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503920" y="2788920"/>
            <a:ext cx="1645920" cy="25603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406640" y="3410712"/>
            <a:ext cx="402336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9829800" y="3172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spread · mid = 100.00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36118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99.99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503920" y="3648456"/>
            <a:ext cx="1508760" cy="2560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7315200" y="39959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99.98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03920" y="4032504"/>
            <a:ext cx="1165860" cy="256032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7315200" y="43799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99.97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503920" y="4416552"/>
            <a:ext cx="1988820" cy="256032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7315200" y="47640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/>
                </a:solidFill>
              </a:rPr>
              <a:t>99.96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503920" y="4800600"/>
            <a:ext cx="754380" cy="256032"/>
          </a:xfrm>
          <a:prstGeom prst="rect">
            <a:avLst/>
          </a:prstGeom>
          <a:solidFill>
            <a:schemeClr val="accent1">
              <a:alpha val="6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10241280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BID</a:t>
            </a:r>
            <a:r>
              <a:rPr lang="en-US" sz="1200" dirty="0">
                <a:solidFill>
                  <a:schemeClr val="accent1"/>
                </a:solidFill>
              </a:rPr>
              <a:t> (buyers)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315200" y="5715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bar length = resting size (depth); solid bars = best bid / best ask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this matters for modelling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book updates at </a:t>
            </a:r>
            <a:r>
              <a:rPr lang="en-US" sz="1800" b="1" dirty="0">
                <a:solidFill>
                  <a:schemeClr val="accent1"/>
                </a:solidFill>
              </a:rPr>
              <a:t>irregular, event-driven intervals</a:t>
            </a:r>
            <a:r>
              <a:rPr lang="en-US" sz="1800" dirty="0">
                <a:solidFill>
                  <a:schemeClr val="tx1"/>
                </a:solidFill>
              </a:rPr>
              <a:t> — no natural “row = one timestep” the way daily OHLC gives you.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You must </a:t>
            </a:r>
            <a:r>
              <a:rPr lang="en-US" sz="1800" b="1" dirty="0">
                <a:solidFill>
                  <a:schemeClr val="accent1"/>
                </a:solidFill>
              </a:rPr>
              <a:t>choose a sampling scheme</a:t>
            </a:r>
            <a:r>
              <a:rPr lang="en-US" sz="1800" dirty="0">
                <a:solidFill>
                  <a:schemeClr val="tx1"/>
                </a:solidFill>
              </a:rPr>
              <a:t> before any model sees the data: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2880360"/>
            <a:ext cx="32918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05156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227832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3736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Fixed clock time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every 1s / 1min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1148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or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80560" y="2880360"/>
            <a:ext cx="32918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70916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2278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Fixed event count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70916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every k messages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or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138160" y="2880360"/>
            <a:ext cx="32918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8366760" y="3108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322783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Fixed volume / trade count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6676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every N shares or trades</a:t>
            </a:r>
            <a:endParaRPr lang="en-US" sz="1500" dirty="0"/>
          </a:p>
        </p:txBody>
      </p:sp>
      <p:sp>
        <p:nvSpPr>
          <p:cNvPr id="23" name="Callout"/>
          <p:cNvSpPr/>
          <p:nvPr/>
        </p:nvSpPr>
        <p:spPr>
          <a:xfrm>
            <a:off x="822960" y="4892040"/>
            <a:ext cx="10607040" cy="914400"/>
          </a:xfrm>
          <a:prstGeom prst="roundRect">
            <a:avLst>
              <a:gd name="adj" fmla="val 12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1143000" y="4892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The choice changes what “lookahead” even means — get this wrong and every downstream step inherits the bug.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Our dataset: Optiver Realized Volatility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37160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stock market data released by </a:t>
            </a:r>
            <a:r>
              <a:rPr lang="en-US" sz="1600" b="1" dirty="0">
                <a:solidFill>
                  <a:schemeClr val="accent1"/>
                </a:solidFill>
              </a:rPr>
              <a:t>Optiver</a:t>
            </a:r>
            <a:r>
              <a:rPr lang="en-US" sz="1600" dirty="0">
                <a:solidFill>
                  <a:schemeClr val="tx1"/>
                </a:solidFill>
              </a:rPr>
              <a:t>, a market-making firm.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Event-driven order book (top 2 price levels) and trade data.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112 stocks</a:t>
            </a:r>
            <a:r>
              <a:rPr lang="en-US" sz="1600" dirty="0">
                <a:solidFill>
                  <a:schemeClr val="tx1"/>
                </a:solidFill>
              </a:rPr>
              <a:t>, thousands of independent 10-minute windows, each with a given </a:t>
            </a:r>
            <a:r>
              <a:rPr lang="en-US" sz="1600" b="1" dirty="0">
                <a:solidFill>
                  <a:schemeClr val="accent1"/>
                </a:solidFill>
              </a:rPr>
              <a:t>label</a:t>
            </a:r>
            <a:r>
              <a:rPr lang="en-US" sz="1600" dirty="0">
                <a:solidFill>
                  <a:schemeClr val="tx1"/>
                </a:solidFill>
              </a:rPr>
              <a:t>: the realized volatility of the 10 minutes that follow it.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window gives you </a:t>
            </a:r>
            <a:r>
              <a:rPr lang="en-US" sz="1600" b="1" dirty="0">
                <a:solidFill>
                  <a:schemeClr val="accent1"/>
                </a:solidFill>
              </a:rPr>
              <a:t>10 minutes of book + trade data</a:t>
            </a:r>
            <a:r>
              <a:rPr lang="en-US" sz="1600" dirty="0">
                <a:solidFill>
                  <a:schemeClr val="tx1"/>
                </a:solidFill>
              </a:rPr>
              <a:t>; the task is to predict realized volatility of the </a:t>
            </a:r>
            <a:r>
              <a:rPr lang="en-US" sz="1600" b="1" dirty="0">
                <a:solidFill>
                  <a:schemeClr val="accent1"/>
                </a:solidFill>
              </a:rPr>
              <a:t>next 10 minutes</a:t>
            </a:r>
            <a:r>
              <a:rPr lang="en-US" sz="1600" dirty="0">
                <a:solidFill>
                  <a:schemeClr val="tx1"/>
                </a:solidFill>
              </a:rPr>
              <a:t> from what happened in the </a:t>
            </a:r>
            <a:r>
              <a:rPr lang="en-US" sz="1600" b="1" dirty="0">
                <a:solidFill>
                  <a:schemeClr val="accent1"/>
                </a:solidFill>
              </a:rPr>
              <a:t>previous 10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Feature and target data never overlap — a clean, built-in point-in-time split, and a natural fit for this workshop.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863840" y="1463040"/>
            <a:ext cx="1783080" cy="21031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86384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stocks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784080" y="1463040"/>
            <a:ext cx="1783080" cy="21031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9784080" y="17830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978408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input window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3794760"/>
            <a:ext cx="1783080" cy="21031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863840" y="4114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 min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120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predicted ahead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784080" y="3794760"/>
            <a:ext cx="1783080" cy="21031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9784080" y="4114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9784080" y="5120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book levels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Getting the data: Kaggle competition files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kaggle.com/competitions/optiver-realized-volatility-prediction/data</a:t>
            </a:r>
            <a:endParaRPr lang="en-US" sz="13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25603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file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contents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book_train.parquet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order book snapshots, partitioned by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stock_id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(one folder per stock)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trade_train.parquet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executed trades, same partitioning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train.csv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labels: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stock_id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time_id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book_test / trade_test.parquet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same schema, for the hidden test windows (only a few rows public)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test.csv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stock_id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time_id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row_id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 = "stock-time"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sample_submission.csv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row_id</a:t>
                      </a: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Code block"/>
          <p:cNvSpPr/>
          <p:nvPr/>
        </p:nvSpPr>
        <p:spPr>
          <a:xfrm>
            <a:off x="548640" y="4434840"/>
            <a:ext cx="72237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4434840"/>
            <a:ext cx="7223760" cy="86868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kaggle competitions download -c optiver-realized-volatility-prediction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pd.read_parquet("book_train.parquet/stock_id=0")   </a:t>
            </a:r>
            <a:r>
              <a:rPr lang="en-US" sz="12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one stock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001000" y="4434840"/>
            <a:ext cx="363931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81838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Official metric: RMSPE</a:t>
            </a:r>
            <a:endParaRPr lang="en-US" sz="1400" dirty="0"/>
          </a:p>
        </p:txBody>
      </p:sp>
      <p:pic>
        <p:nvPicPr>
          <p:cNvPr id="11" name="Equation rmspe" descr="rmsp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171" y="4956048"/>
            <a:ext cx="2734970" cy="84490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5486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Download needs a Kaggle account + accepted competition rules.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Columns: </a:t>
            </a: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book.parquet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One row per </a:t>
            </a:r>
            <a:r>
              <a:rPr lang="en-US" sz="1700" b="1" dirty="0">
                <a:solidFill>
                  <a:schemeClr val="accent1"/>
                </a:solidFill>
              </a:rPr>
              <a:t>order book update event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1129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stock_id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anonymized stock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anonymized 10-minute window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seconds_in_bucket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seconds since window start (0–599)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bid_price1, ask_price1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best bid / best ask price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bid_price2, ask_price2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2nd-best bid / ask price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bid_size1, ask_size1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size resting at the best price, each side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bid_size2, ask_size2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size resting at the 2nd-best price, each side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486400"/>
            <a:ext cx="5486400" cy="640080"/>
          </a:xfrm>
          <a:prstGeom prst="roundRect">
            <a:avLst>
              <a:gd name="adj" fmla="val 17143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868680" y="5486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Only the top 2 levels — no deeper book.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Columns: </a:t>
            </a: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trade.parquet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One row per </a:t>
            </a:r>
            <a:r>
              <a:rPr lang="en-US" sz="1700" b="1" dirty="0">
                <a:solidFill>
                  <a:schemeClr val="accent1"/>
                </a:solidFill>
              </a:rPr>
              <a:t>executed trade</a:t>
            </a:r>
            <a:r>
              <a:rPr lang="en-US" sz="1700" dirty="0">
                <a:solidFill>
                  <a:schemeClr val="tx1"/>
                </a:solidFill>
              </a:rPr>
              <a:t> (only when a trade actually happens).</a:t>
            </a:r>
            <a:endParaRPr lang="en-US" sz="17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07238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stock_id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anonymized stock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anonymized 10-minute window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seconds_in_bucket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seconds since window start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trade execution price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total shares traded at that price/second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order_count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number of distinct orders making up that trade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Flow box"/>
          <p:cNvSpPr txBox="1"/>
          <p:nvPr/>
        </p:nvSpPr>
        <p:spPr>
          <a:xfrm>
            <a:off x="548640" y="512064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book.parquet</a:t>
            </a:r>
            <a:endParaRPr lang="en-US" sz="1500" dirty="0"/>
          </a:p>
        </p:txBody>
      </p:sp>
      <p:sp>
        <p:nvSpPr>
          <p:cNvPr id="8" name="Flow box"/>
          <p:cNvSpPr txBox="1"/>
          <p:nvPr/>
        </p:nvSpPr>
        <p:spPr>
          <a:xfrm>
            <a:off x="4023360" y="5120640"/>
            <a:ext cx="237744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trade.parquet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2926080" y="5120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+</a:t>
            </a:r>
            <a:endParaRPr lang="en-US" sz="2600" dirty="0"/>
          </a:p>
        </p:txBody>
      </p:sp>
      <p:sp>
        <p:nvSpPr>
          <p:cNvPr id="6" name="Text 6"/>
          <p:cNvSpPr txBox="1"/>
          <p:nvPr/>
        </p:nvSpPr>
        <p:spPr>
          <a:xfrm>
            <a:off x="6675120" y="5120640"/>
            <a:ext cx="4965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join on </a:t>
            </a: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stock_id</a:t>
            </a:r>
            <a:r>
              <a:rPr lang="en-US" sz="1500" dirty="0">
                <a:solidFill>
                  <a:schemeClr val="tx1"/>
                </a:solidFill>
              </a:rPr>
              <a:t> + </a:t>
            </a: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time_id</a:t>
            </a:r>
            <a:r>
              <a:rPr lang="en-US" sz="1500" dirty="0">
                <a:solidFill>
                  <a:schemeClr val="tx1"/>
                </a:solidFill>
              </a:rPr>
              <a:t>  (+ </a:t>
            </a: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seconds_in_bucket</a:t>
            </a:r>
            <a:r>
              <a:rPr lang="en-US" sz="1500" dirty="0">
                <a:solidFill>
                  <a:schemeClr val="tx1"/>
                </a:solidFill>
              </a:rPr>
              <a:t> if you want to line up events in time)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Columns: </a:t>
            </a: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train.csv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One row per </a:t>
            </a:r>
            <a:r>
              <a:rPr lang="en-US" sz="1700" b="1" dirty="0">
                <a:solidFill>
                  <a:schemeClr val="accent1"/>
                </a:solidFill>
              </a:rPr>
              <a:t>window</a:t>
            </a:r>
            <a:r>
              <a:rPr lang="en-US" sz="1700" dirty="0">
                <a:solidFill>
                  <a:schemeClr val="tx1"/>
                </a:solidFill>
              </a:rPr>
              <a:t> — this is the label file.</a:t>
            </a:r>
            <a:endParaRPr lang="en-US" sz="17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2098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stock_id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anonymized stock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anonymized 10-minute window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realized volatility of the next 10 minutes (not in the files)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Bullets"/>
          <p:cNvSpPr txBox="1"/>
          <p:nvPr/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Three columns, ~429k rows.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Joins onto the other two files by </a:t>
            </a: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stock_id</a:t>
            </a:r>
            <a:r>
              <a:rPr lang="en-US" sz="1700" dirty="0">
                <a:solidFill>
                  <a:schemeClr val="tx1"/>
                </a:solidFill>
              </a:rPr>
              <a:t> + </a:t>
            </a: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time_id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955280" y="1783080"/>
            <a:ext cx="3685032" cy="3931920"/>
          </a:xfrm>
          <a:prstGeom prst="roundRect">
            <a:avLst>
              <a:gd name="adj" fmla="val 347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7955280" y="2194560"/>
            <a:ext cx="3685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~429k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7955280" y="320040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labelled windows</a:t>
            </a:r>
            <a:endParaRPr lang="en-US" sz="1600" dirty="0"/>
          </a:p>
        </p:txBody>
      </p:sp>
      <p:sp>
        <p:nvSpPr>
          <p:cNvPr id="6" name="Text 7"/>
          <p:cNvSpPr txBox="1"/>
          <p:nvPr/>
        </p:nvSpPr>
        <p:spPr>
          <a:xfrm>
            <a:off x="8138160" y="4206240"/>
            <a:ext cx="3319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112 stocks × ~3,830 windows each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are we actually predicting?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71600"/>
            <a:ext cx="52578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4480560" y="155448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features X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Input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Order book + trade activity from the </a:t>
            </a:r>
            <a:r>
              <a:rPr lang="en-US" sz="1800" b="1" dirty="0">
                <a:solidFill>
                  <a:schemeClr val="accent1"/>
                </a:solidFill>
              </a:rPr>
              <a:t>full 10-minute window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seconds_in_bucket</a:t>
            </a:r>
            <a:r>
              <a:rPr lang="en-US" sz="1800" dirty="0">
                <a:solidFill>
                  <a:schemeClr val="tx1"/>
                </a:solidFill>
              </a:rPr>
              <a:t> 0–599).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97880" y="2423160"/>
            <a:ext cx="4572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Card"/>
          <p:cNvSpPr/>
          <p:nvPr/>
        </p:nvSpPr>
        <p:spPr>
          <a:xfrm>
            <a:off x="6382512" y="1371600"/>
            <a:ext cx="525780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0314432" y="155448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target 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611112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Output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611112" y="210312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800" dirty="0">
                <a:solidFill>
                  <a:schemeClr val="tx1"/>
                </a:solidFill>
              </a:rPr>
              <a:t> — realized volatility of that stock's price over the </a:t>
            </a:r>
            <a:r>
              <a:rPr lang="en-US" sz="1800" b="1" dirty="0">
                <a:solidFill>
                  <a:schemeClr val="accent1"/>
                </a:solidFill>
              </a:rPr>
              <a:t>next 10 minutes</a:t>
            </a:r>
            <a:r>
              <a:rPr lang="en-US" sz="1800" dirty="0">
                <a:solidFill>
                  <a:schemeClr val="tx1"/>
                </a:solidFill>
              </a:rPr>
              <a:t> after the window ends — a single number.</a:t>
            </a:r>
            <a:endParaRPr lang="en-US" sz="1800" dirty="0"/>
          </a:p>
        </p:txBody>
      </p:sp>
      <p:sp>
        <p:nvSpPr>
          <p:cNvPr id="14" name="Callout"/>
          <p:cNvSpPr/>
          <p:nvPr/>
        </p:nvSpPr>
        <p:spPr>
          <a:xfrm>
            <a:off x="548640" y="379476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68680" y="379476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In simple terms: “given how turbulent the last 10 minutes were, predict how volatile will the next 10 minutes be?”</a:t>
            </a:r>
            <a:endParaRPr lang="en-US" sz="1800" dirty="0"/>
          </a:p>
        </p:txBody>
      </p:sp>
      <p:sp>
        <p:nvSpPr>
          <p:cNvPr id="16" name="Bullets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Note- The next 10 mins data isn’t going to be available anywhere…only its RV will be tested against.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Framing it as a table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20116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this window (0–599s)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next 10 min (600–1199s)</a:t>
                      </a:r>
                      <a:endParaRPr lang="en-US" sz="16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features (X)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target (y)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Source file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book.parquet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trade.parquet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train.csv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's 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Model sees it?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— not in any file, only the label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097280" y="3977640"/>
            <a:ext cx="4983480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6080760" y="3977640"/>
            <a:ext cx="4983480" cy="5486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1097280" y="3977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features: 0–599s (in the files)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080760" y="3977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target: next 600s (not in files)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0s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62356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600s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060704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1200s</a:t>
            </a:r>
            <a:endParaRPr lang="en-US" sz="1200" dirty="0"/>
          </a:p>
        </p:txBody>
      </p:sp>
      <p:sp>
        <p:nvSpPr>
          <p:cNvPr id="5" name="Shape 9"/>
          <p:cNvSpPr/>
          <p:nvPr/>
        </p:nvSpPr>
        <p:spPr>
          <a:xfrm>
            <a:off x="1097280" y="4800600"/>
            <a:ext cx="996696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097280" y="4663440"/>
            <a:ext cx="0" cy="1371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1064240" y="4663440"/>
            <a:ext cx="0" cy="13716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1097280" y="49377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500" dirty="0">
                <a:solidFill>
                  <a:schemeClr val="tx1"/>
                </a:solidFill>
              </a:rPr>
              <a:t> = realized volatility over the </a:t>
            </a:r>
            <a:r>
              <a:rPr lang="en-US" sz="1500" b="1" dirty="0">
                <a:solidFill>
                  <a:schemeClr val="accent1"/>
                </a:solidFill>
              </a:rPr>
              <a:t>next</a:t>
            </a:r>
            <a:r>
              <a:rPr lang="en-US" sz="1500" dirty="0">
                <a:solidFill>
                  <a:schemeClr val="tx1"/>
                </a:solidFill>
              </a:rPr>
              <a:t> 10 minutes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Each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(stock_id, time_id)</a:t>
            </a:r>
            <a:r>
              <a:rPr lang="en-US" sz="1600" dirty="0">
                <a:solidFill>
                  <a:schemeClr val="tx1"/>
                </a:solidFill>
              </a:rPr>
              <a:t> pair is </a:t>
            </a:r>
            <a:r>
              <a:rPr lang="en-US" sz="1600" b="1" dirty="0">
                <a:solidFill>
                  <a:schemeClr val="accent1"/>
                </a:solidFill>
              </a:rPr>
              <a:t>one training example</a:t>
            </a:r>
            <a:r>
              <a:rPr lang="en-US" sz="1600" dirty="0">
                <a:solidFill>
                  <a:schemeClr val="tx1"/>
                </a:solidFill>
              </a:rPr>
              <a:t>: a vector of features from its 10 minutes mapped to one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600" dirty="0">
                <a:solidFill>
                  <a:schemeClr val="tx1"/>
                </a:solidFill>
              </a:rPr>
              <a:t> number.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How </a:t>
            </a:r>
            <a:r>
              <a:rPr lang="en-US" sz="3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3000" b="1" dirty="0">
                <a:solidFill>
                  <a:schemeClr val="tx2"/>
                </a:solidFill>
              </a:rPr>
              <a:t> is actually computed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11091672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Equation target" descr="targ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925" y="1508760"/>
            <a:ext cx="7175845" cy="1118860"/>
          </a:xfrm>
          <a:prstGeom prst="rect">
            <a:avLst/>
          </a:prstGeom>
        </p:spPr>
      </p:pic>
      <p:pic>
        <p:nvPicPr>
          <p:cNvPr id="7" name="Equation wap" descr="w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301" y="2828788"/>
            <a:ext cx="5312481" cy="879104"/>
          </a:xfrm>
          <a:prstGeom prst="rect">
            <a:avLst/>
          </a:prstGeom>
        </p:spPr>
      </p:pic>
      <p:sp>
        <p:nvSpPr>
          <p:cNvPr id="8" name="Bullets"/>
          <p:cNvSpPr txBox="1"/>
          <p:nvPr/>
        </p:nvSpPr>
        <p:spPr>
          <a:xfrm>
            <a:off x="548640" y="4206240"/>
            <a:ext cx="11091672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WAP</a:t>
            </a:r>
            <a:r>
              <a:rPr lang="en-US" sz="1700" dirty="0">
                <a:solidFill>
                  <a:schemeClr val="tx1"/>
                </a:solidFill>
              </a:rPr>
              <a:t> (weighted average price) leans toward whichever side has more size resting — a sturdier reference price than the plain midpoint.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Optiver computed </a:t>
            </a: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700" dirty="0">
                <a:solidFill>
                  <a:schemeClr val="tx1"/>
                </a:solidFill>
              </a:rPr>
              <a:t> this way over the next 10 minutes, which we never see.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WAP, not the trade or mid price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575304" cy="292608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82296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Last trade price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Trades are </a:t>
            </a:r>
            <a:r>
              <a:rPr lang="en-US" sz="1600" b="1" dirty="0">
                <a:solidFill>
                  <a:schemeClr val="accent1"/>
                </a:solidFill>
              </a:rPr>
              <a:t>rare</a:t>
            </a:r>
            <a:r>
              <a:rPr lang="en-US" sz="1600" dirty="0">
                <a:solidFill>
                  <a:schemeClr val="tx2"/>
                </a:solidFill>
              </a:rPr>
              <a:t> — most seconds have none. Price bounces between bid and ask, so up-down-up looks like volatility when nothing changed.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75304" cy="292608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4581144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Mid price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81144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(bid + ask) / 2 </a:t>
            </a:r>
            <a:r>
              <a:rPr lang="en-US" sz="1600" b="1" dirty="0">
                <a:solidFill>
                  <a:schemeClr val="accent1"/>
                </a:solidFill>
              </a:rPr>
              <a:t>ignores sizes</a:t>
            </a:r>
            <a:r>
              <a:rPr lang="en-US" sz="1600" dirty="0">
                <a:solidFill>
                  <a:schemeClr val="tx2"/>
                </a:solidFill>
              </a:rPr>
              <a:t>. Stuck until the best price changes, then jumps.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65008" y="1463040"/>
            <a:ext cx="3575304" cy="2926080"/>
          </a:xfrm>
          <a:prstGeom prst="roundRect">
            <a:avLst>
              <a:gd name="adj" fmla="val 306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8339328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WAP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39328" y="24231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Uses prices </a:t>
            </a:r>
            <a:r>
              <a:rPr lang="en-US" sz="1600" b="1" dirty="0">
                <a:solidFill>
                  <a:schemeClr val="accent2"/>
                </a:solidFill>
              </a:rPr>
              <a:t>and sizes</a:t>
            </a:r>
            <a:r>
              <a:rPr lang="en-US" sz="1600" dirty="0">
                <a:solidFill>
                  <a:schemeClr val="bg1"/>
                </a:solidFill>
              </a:rPr>
              <a:t>, so it moves as soon as pressure shifts — leaning toward the thin side, where price goes next. Same price Optiver uses for target.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6" name="Example"/>
          <p:cNvSpPr txBox="1"/>
          <p:nvPr/>
        </p:nvSpPr>
        <p:spPr>
          <a:xfrm>
            <a:off x="548640" y="4709160"/>
            <a:ext cx="11091672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500" i="1">
                <a:solidFill>
                  <a:srgbClr val="4B5563"/>
                </a:solidFill>
              </a:rPr>
              <a:t>Example: bid 100.00 × 900, ask 100.02 × 100 → mid 100.010, WAP 100.018. Buyers are heavy and the ask is thin, so the next trade is likely up — WAP already sits there.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Today's slice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777240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 handful of stocks 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112 stocks is a lot for a 2-hour session — we'll work with a handful (picked to show different volatility behavior side by side).</a:t>
            </a:r>
            <a:endParaRPr lang="en-US" sz="1900" dirty="0"/>
          </a:p>
        </p:txBody>
      </p:sp>
      <p:sp>
        <p:nvSpPr>
          <p:cNvPr id="8" name="Card"/>
          <p:cNvSpPr/>
          <p:nvPr/>
        </p:nvSpPr>
        <p:spPr>
          <a:xfrm>
            <a:off x="6245352" y="146304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473952" y="1645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Everything scales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73952" y="219456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Same cleaning, features, and models generalize to the full set — what we build today scales, it just runs longer.</a:t>
            </a:r>
            <a:endParaRPr lang="en-US" sz="1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63440"/>
            <a:ext cx="914400" cy="91440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66344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Cleaning &amp; Avoiding Lookahead</a:t>
            </a:r>
            <a:endParaRPr lang="en-US" sz="4000" dirty="0"/>
          </a:p>
        </p:txBody>
      </p:sp>
      <p:sp>
        <p:nvSpPr>
          <p:cNvPr id="5" name="Part number"/>
          <p:cNvSpPr txBox="1"/>
          <p:nvPr/>
        </p:nvSpPr>
        <p:spPr>
          <a:xfrm>
            <a:off x="822960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alpha val="22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Cleaning pass: what this dataset actually needs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Checked directly on our extracted stocks: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548640" y="173736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4663440" y="192024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NONE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Crossed books, zero-size top-of-book, duplicate timestamps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This sample is pre-cleaned. 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199632" y="173736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0314432" y="192024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ISSUE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real issue: the grid is sparse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246888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Median </a:t>
            </a:r>
            <a:r>
              <a:rPr lang="en-US" sz="1600" b="1" dirty="0">
                <a:solidFill>
                  <a:schemeClr val="accent1"/>
                </a:solidFill>
              </a:rPr>
              <a:t>441 rows</a:t>
            </a:r>
            <a:r>
              <a:rPr lang="en-US" sz="1600" dirty="0">
                <a:solidFill>
                  <a:schemeClr val="tx1"/>
                </a:solidFill>
              </a:rPr>
              <a:t> out of a possible 600 seconds per window most seconds have no book-update row at all 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48640" y="40690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663440" y="425196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fill 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251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Missing trade activity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8006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Many windows have far fewer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trade.parquet</a:t>
            </a:r>
            <a:r>
              <a:rPr lang="en-US" sz="1600" dirty="0">
                <a:solidFill>
                  <a:schemeClr val="tx1"/>
                </a:solidFill>
              </a:rPr>
              <a:t> rows than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book.parquet</a:t>
            </a:r>
            <a:r>
              <a:rPr lang="en-US" sz="1600" dirty="0">
                <a:solidFill>
                  <a:schemeClr val="tx1"/>
                </a:solidFill>
              </a:rPr>
              <a:t> rows — some seconds have no trade whatsoever. Fill with 0 (no trade happened), don't drop the window.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6199632" y="40690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10314432" y="425196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GUARD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428232" y="4251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Division-by-zero guard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28232" y="480060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WAP divides by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bidSize1 + askSize1</a:t>
            </a:r>
            <a:r>
              <a:rPr lang="en-US" sz="1600" dirty="0">
                <a:solidFill>
                  <a:schemeClr val="tx1"/>
                </a:solidFill>
              </a:rPr>
              <a:t> guard it before it silently produces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Lookahead bias: the core rule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llout"/>
          <p:cNvSpPr/>
          <p:nvPr/>
        </p:nvSpPr>
        <p:spPr>
          <a:xfrm>
            <a:off x="548640" y="132588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868680" y="1325880"/>
            <a:ext cx="10451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tx2"/>
                </a:solidFill>
              </a:rPr>
              <a:t>At every point in the training set, a feature or label may only use information that was actually knowable at that timestamp.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Three places it sneaks in: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548640" y="3200400"/>
            <a:ext cx="357530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Card number"/>
          <p:cNvSpPr/>
          <p:nvPr/>
        </p:nvSpPr>
        <p:spPr>
          <a:xfrm>
            <a:off x="749808" y="34152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49808" y="3415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3832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Centered or future windows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31920"/>
            <a:ext cx="3118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Features computed over a centered or future window, e.g. a rolling mean using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t-5 .. t+5</a:t>
            </a:r>
            <a:r>
              <a:rPr lang="en-US" sz="1600" dirty="0">
                <a:solidFill>
                  <a:schemeClr val="tx1"/>
                </a:solidFill>
              </a:rPr>
              <a:t> instead of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t-10 .. t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306824" y="3200400"/>
            <a:ext cx="357530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Card number"/>
          <p:cNvSpPr/>
          <p:nvPr/>
        </p:nvSpPr>
        <p:spPr>
          <a:xfrm>
            <a:off x="4507992" y="34152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507992" y="3415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084064" y="33832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Label shares the feature's bar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35424" y="3931920"/>
            <a:ext cx="3118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Labels defined using the same bar that generates the feature, e.g. “did price go up in this candle” using that candle's close as a feature.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8065008" y="3200400"/>
            <a:ext cx="357530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Card number"/>
          <p:cNvSpPr/>
          <p:nvPr/>
        </p:nvSpPr>
        <p:spPr>
          <a:xfrm>
            <a:off x="8266176" y="34152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8266176" y="3415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842248" y="33832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Scaling on the full dataset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293608" y="3931920"/>
            <a:ext cx="31181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Normalization/scaling fit on train+test before splitting — leaks future distribution into the past.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Lookahead bias: our specific trap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325880"/>
            <a:ext cx="11091672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train.csv</a:t>
            </a:r>
            <a:r>
              <a:rPr lang="en-US" sz="1700" dirty="0">
                <a:solidFill>
                  <a:schemeClr val="tx1"/>
                </a:solidFill>
              </a:rPr>
              <a:t>'s </a:t>
            </a: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700" dirty="0">
                <a:solidFill>
                  <a:schemeClr val="tx1"/>
                </a:solidFill>
              </a:rPr>
              <a:t> is computed from the </a:t>
            </a:r>
            <a:r>
              <a:rPr lang="en-US" sz="1700" b="1" dirty="0">
                <a:solidFill>
                  <a:schemeClr val="accent1"/>
                </a:solidFill>
              </a:rPr>
              <a:t>next 10 minutes</a:t>
            </a:r>
            <a:r>
              <a:rPr lang="en-US" sz="1700" dirty="0">
                <a:solidFill>
                  <a:schemeClr val="tx1"/>
                </a:solidFill>
              </a:rPr>
              <a:t> after the window — never in the files, so a window's own features can't leak it. The trap is across stocks: one </a:t>
            </a: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time_id</a:t>
            </a:r>
            <a:r>
              <a:rPr lang="en-US" sz="1700" dirty="0">
                <a:solidFill>
                  <a:schemeClr val="tx1"/>
                </a:solidFill>
              </a:rPr>
              <a:t> is the </a:t>
            </a: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</a:t>
            </a:r>
            <a:r>
              <a:rPr lang="en-US" sz="1700" dirty="0">
                <a:solidFill>
                  <a:schemeClr val="tx1"/>
                </a:solidFill>
              </a:rPr>
              <a:t> 20-minute market moment for </a:t>
            </a:r>
            <a:r>
              <a:rPr lang="en-US" sz="1700" b="1" dirty="0">
                <a:solidFill>
                  <a:schemeClr val="accent1"/>
                </a:solidFill>
              </a:rPr>
              <a:t>every</a:t>
            </a:r>
            <a:r>
              <a:rPr lang="en-US" sz="1700" dirty="0">
                <a:solidFill>
                  <a:schemeClr val="tx1"/>
                </a:solidFill>
              </a:rPr>
              <a:t> stock — a calm or wild market hits them all at once.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The bug that's easy to write</a:t>
            </a:r>
            <a:r>
              <a:rPr lang="en-US" sz="1700" dirty="0">
                <a:solidFill>
                  <a:schemeClr val="tx1"/>
                </a:solidFill>
              </a:rPr>
              <a:t>: a random row split (</a:t>
            </a:r>
            <a:r>
              <a:rPr lang="en-US" sz="1700" b="1" dirty="0">
                <a:solidFill>
                  <a:schemeClr val="accent1"/>
                </a:solidFill>
              </a:rPr>
              <a:t>train_test_split</a:t>
            </a:r>
            <a:r>
              <a:rPr lang="en-US" sz="1700" dirty="0">
                <a:solidFill>
                  <a:schemeClr val="tx1"/>
                </a:solidFill>
              </a:rPr>
              <a:t>) puts stock 0 at time_id 5 in train and stock 1 at time_id 5 in test — same moment on both sides, so the model </a:t>
            </a:r>
            <a:r>
              <a:rPr lang="en-US" sz="1700" b="1" dirty="0">
                <a:solidFill>
                  <a:schemeClr val="accent1"/>
                </a:solidFill>
              </a:rPr>
              <a:t>memorizes the market</a:t>
            </a:r>
            <a:r>
              <a:rPr lang="en-US" sz="1700" dirty="0">
                <a:solidFill>
                  <a:schemeClr val="tx1"/>
                </a:solidFill>
              </a:rPr>
              <a:t> and test scores look better than they will on truly new windows.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accent5">
              <a:alpha val="10000"/>
            </a:schemeClr>
          </a:solidFill>
          <a:ln w="158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77240" y="3977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✗  random row split — leaks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526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train_test_split(df)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45352" y="3840480"/>
            <a:ext cx="5394960" cy="1417320"/>
          </a:xfrm>
          <a:prstGeom prst="roundRect">
            <a:avLst>
              <a:gd name="adj" fmla="val 7742"/>
            </a:avLst>
          </a:prstGeom>
          <a:solidFill>
            <a:schemeClr val="accent4">
              <a:alpha val="10000"/>
            </a:schemeClr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6473952" y="3977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✓  group by time_id — correct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73952" y="4526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GroupKFold(5).split(X, groups=df.time_id)</a:t>
            </a:r>
            <a:endParaRPr lang="en-US" sz="1900" dirty="0"/>
          </a:p>
        </p:txBody>
      </p:sp>
      <p:sp>
        <p:nvSpPr>
          <p:cNvPr id="12" name="Callout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868680" y="548640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Always split on </a:t>
            </a:r>
            <a:r>
              <a:rPr lang="en-US" sz="1700" b="1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time_id</a:t>
            </a:r>
            <a:r>
              <a:rPr lang="en-US" sz="1700" b="1" i="1" dirty="0">
                <a:solidFill>
                  <a:schemeClr val="tx2"/>
                </a:solidFill>
              </a:rPr>
              <a:t>, never on individual rows.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fix: point-in-time discipline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548640" y="1325880"/>
            <a:ext cx="11091672" cy="3063240"/>
          </a:xfrm>
          <a:prstGeom prst="roundRect">
            <a:avLst>
              <a:gd name="adj" fmla="val 298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1325880"/>
            <a:ext cx="11091672" cy="306324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feature f built for (stock_id, time_id):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f only uses that window's own rows (0-599s)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for (stock_id, time_id):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comes only from train.csv -- the next 10 min, never in our files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train/test split: by time_id -- one time_id = one market moment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all stocks (no real calendar to walk forward on here), so no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time_id may appear in both train and test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lags / EWMA: backward-looking only, inside the window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ewm(adjust=False), rolling(...) never center=True, never bfill</a:t>
            </a:r>
            <a:endParaRPr lang="en-US" sz="1500" dirty="0"/>
          </a:p>
        </p:txBody>
      </p:sp>
      <p:sp>
        <p:nvSpPr>
          <p:cNvPr id="7" name="Bullets"/>
          <p:cNvSpPr txBox="1"/>
          <p:nvPr/>
        </p:nvSpPr>
        <p:spPr>
          <a:xfrm>
            <a:off x="548640" y="4617720"/>
            <a:ext cx="11091672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Write this as an actual </a:t>
            </a:r>
            <a:r>
              <a:rPr lang="en-US" sz="1600" b="1" dirty="0">
                <a:solidFill>
                  <a:schemeClr val="accent1"/>
                </a:solidFill>
              </a:rPr>
              <a:t>assertion in code</a:t>
            </a:r>
            <a:r>
              <a:rPr lang="en-US" sz="1600" dirty="0">
                <a:solidFill>
                  <a:schemeClr val="tx1"/>
                </a:solidFill>
              </a:rPr>
              <a:t>, not a mental checklist — it's cheap and it catches regressions when you refactor features.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GARCH later runs inside each window, on its own 600 seconds — the same rule holds.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Feature Engineering</a:t>
            </a:r>
            <a:endParaRPr lang="en-US" sz="4000" dirty="0"/>
          </a:p>
        </p:txBody>
      </p:sp>
      <p:sp>
        <p:nvSpPr>
          <p:cNvPr id="5" name="Part number"/>
          <p:cNvSpPr txBox="1"/>
          <p:nvPr/>
        </p:nvSpPr>
        <p:spPr>
          <a:xfrm>
            <a:off x="822960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alpha val="22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Log returns of WAP, not raw prices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Equation logret" descr="logr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236" y="1536192"/>
            <a:ext cx="4845223" cy="5943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514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Same WAP, same formula, as </a:t>
            </a:r>
            <a:r>
              <a:rPr lang="en-US" sz="16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600" i="1" dirty="0">
                <a:solidFill>
                  <a:schemeClr val="tx2"/>
                </a:solidFill>
              </a:rPr>
              <a:t> in Part 1 — we're building features out of the exact quantity the label is made from.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548640" y="3291840"/>
            <a:ext cx="3575304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Card number"/>
          <p:cNvSpPr/>
          <p:nvPr/>
        </p:nvSpPr>
        <p:spPr>
          <a:xfrm>
            <a:off x="749808" y="35067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749808" y="35067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4747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Stationarity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023360"/>
            <a:ext cx="3118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WAP trends and drifts within a window; its returns are much closer to stationary — what GARCH will need later.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4306824" y="3291840"/>
            <a:ext cx="3575304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Card number"/>
          <p:cNvSpPr/>
          <p:nvPr/>
        </p:nvSpPr>
        <p:spPr>
          <a:xfrm>
            <a:off x="4507992" y="35067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4507992" y="35067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084064" y="34747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Additivity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35424" y="4023360"/>
            <a:ext cx="3118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Sum of single-step log returns over 0–599s = the log return of the whole window — cheap to aggregate.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8065008" y="3291840"/>
            <a:ext cx="3575304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Card number"/>
          <p:cNvSpPr/>
          <p:nvPr/>
        </p:nvSpPr>
        <p:spPr>
          <a:xfrm>
            <a:off x="8266176" y="35067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8266176" y="35067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842248" y="34747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Realized vol's building block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293608" y="4023360"/>
            <a:ext cx="3118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√(Σ rₜ²) over this window's 0–599s gives our strongest single feature (next slide).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Order book features we actually built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book.parquet</a:t>
            </a:r>
            <a:r>
              <a:rPr lang="en-US" sz="1600" dirty="0">
                <a:solidFill>
                  <a:schemeClr val="tx1"/>
                </a:solidFill>
              </a:rPr>
              <a:t>, the window's full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seconds_in_bucket 0–599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  <a:endParaRPr lang="en-US" sz="16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34015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captures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rv_window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√( Σ rₜ² ),  t = 0–599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realized vol of this window — same formula as the target, 10 minutes earlier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spread_mean / max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ask₁ − bid₁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how wide the market is, typical &amp; worst case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imbalance_mean / std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(bidSize₁ − askSize₁) / (bidSize₁ + askSize₁)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buy vs. sell pressure at best level, and how much it wobbles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wap_mean / std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price level and its dispersion over the window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n_updates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row count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how much the book moved — an activity proxy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868680" y="54406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Only 2 book levels exist in this data, so imbalance is top-level only — no deeper-book variant to build.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Trade features we actually built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trade.parquet</a:t>
            </a:r>
            <a:r>
              <a:rPr lang="en-US" sz="1600" dirty="0">
                <a:solidFill>
                  <a:schemeClr val="tx1"/>
                </a:solidFill>
              </a:rPr>
              <a:t>, same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0–599s</a:t>
            </a:r>
            <a:r>
              <a:rPr lang="en-US" sz="1600" dirty="0">
                <a:solidFill>
                  <a:schemeClr val="tx1"/>
                </a:solidFill>
              </a:rPr>
              <a:t> window: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7530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258568"/>
            <a:ext cx="374904" cy="3749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trade_count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number of trade rows in the window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06824" y="1828800"/>
            <a:ext cx="357530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581144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2258568"/>
            <a:ext cx="374904" cy="3749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81144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trade_vol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81144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total shares traded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65008" y="1828800"/>
            <a:ext cx="3575304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3932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2258568"/>
            <a:ext cx="374904" cy="37490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39328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trade_price_std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39328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how much executed price bounced around</a:t>
            </a:r>
            <a:endParaRPr lang="en-US" sz="1500" dirty="0"/>
          </a:p>
        </p:txBody>
      </p:sp>
      <p:sp>
        <p:nvSpPr>
          <p:cNvPr id="21" name="Callout"/>
          <p:cNvSpPr/>
          <p:nvPr/>
        </p:nvSpPr>
        <p:spPr>
          <a:xfrm>
            <a:off x="548640" y="466344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 txBox="1"/>
          <p:nvPr/>
        </p:nvSpPr>
        <p:spPr>
          <a:xfrm>
            <a:off x="868680" y="466344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Many windows have zero trade rows in a given second, or even in the whole window — </a:t>
            </a:r>
            <a:r>
              <a:rPr lang="en-US" sz="1700" b="1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fillna(0)</a:t>
            </a:r>
            <a:r>
              <a:rPr lang="en-US" sz="1700" b="1" i="1" dirty="0">
                <a:solidFill>
                  <a:schemeClr val="tx2"/>
                </a:solidFill>
              </a:rPr>
              <a:t>, don't drop the window (Part 2).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One row per window, not one row per second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325880"/>
            <a:ext cx="6309360" cy="4937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(stock_id, time_id)</a:t>
            </a:r>
            <a:r>
              <a:rPr lang="en-US" sz="1600" dirty="0">
                <a:solidFill>
                  <a:schemeClr val="tx1"/>
                </a:solidFill>
              </a:rPr>
              <a:t> becomes </a:t>
            </a:r>
            <a:r>
              <a:rPr lang="en-US" sz="1600" b="1" dirty="0">
                <a:solidFill>
                  <a:schemeClr val="accent1"/>
                </a:solidFill>
              </a:rPr>
              <a:t>one training example</a:t>
            </a:r>
            <a:r>
              <a:rPr lang="en-US" sz="1600" dirty="0">
                <a:solidFill>
                  <a:schemeClr val="tx1"/>
                </a:solidFill>
              </a:rPr>
              <a:t>: all of the above are </a:t>
            </a:r>
            <a:r>
              <a:rPr lang="en-US" sz="1600" b="1" dirty="0">
                <a:solidFill>
                  <a:schemeClr val="accent1"/>
                </a:solidFill>
              </a:rPr>
              <a:t>summary statistics over 0–599s</a:t>
            </a:r>
            <a:r>
              <a:rPr lang="en-US" sz="1600" dirty="0">
                <a:solidFill>
                  <a:schemeClr val="tx1"/>
                </a:solidFill>
              </a:rPr>
              <a:t>, collapsed to a single vector — not a rolling window across many separate rows.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is why every formula above says “mean/std/max </a:t>
            </a:r>
            <a:r>
              <a:rPr lang="en-US" sz="1600" b="1" dirty="0">
                <a:solidFill>
                  <a:schemeClr val="accent1"/>
                </a:solidFill>
              </a:rPr>
              <a:t>over</a:t>
            </a:r>
            <a:r>
              <a:rPr lang="en-US" sz="1600" dirty="0">
                <a:solidFill>
                  <a:schemeClr val="tx1"/>
                </a:solidFill>
              </a:rPr>
              <a:t> the window,” not “at time t” — there's no per-second target to chase, only one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600" dirty="0">
                <a:solidFill>
                  <a:schemeClr val="tx1"/>
                </a:solidFill>
              </a:rPr>
              <a:t> per window.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aggregation uses only the window's own rows (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0–599s</a:t>
            </a:r>
            <a:r>
              <a:rPr lang="en-US" sz="1600" dirty="0">
                <a:solidFill>
                  <a:schemeClr val="tx1"/>
                </a:solidFill>
              </a:rPr>
              <a:t>) — the target's 10 minutes come later and </a:t>
            </a:r>
            <a:r>
              <a:rPr lang="en-US" sz="1600" i="1" dirty="0">
                <a:solidFill>
                  <a:schemeClr val="tx1"/>
                </a:solidFill>
              </a:rPr>
              <a:t>are</a:t>
            </a:r>
            <a:r>
              <a:rPr lang="en-US" sz="1600" dirty="0">
                <a:solidFill>
                  <a:schemeClr val="tx1"/>
                </a:solidFill>
              </a:rPr>
              <a:t> never in the files, so the lookahead boundary is built into the data.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23760" y="1554480"/>
            <a:ext cx="1737360" cy="256032"/>
          </a:xfrm>
          <a:prstGeom prst="rect">
            <a:avLst/>
          </a:prstGeom>
          <a:solidFill>
            <a:schemeClr val="accent1">
              <a:alpha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223760" y="1883664"/>
            <a:ext cx="1737360" cy="256032"/>
          </a:xfrm>
          <a:prstGeom prst="rect">
            <a:avLst/>
          </a:prstGeom>
          <a:solidFill>
            <a:schemeClr val="accent1">
              <a:alpha val="72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223760" y="2212848"/>
            <a:ext cx="1737360" cy="256032"/>
          </a:xfrm>
          <a:prstGeom prst="rect">
            <a:avLst/>
          </a:prstGeom>
          <a:solidFill>
            <a:schemeClr val="accent1">
              <a:alpha val="64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223760" y="2542032"/>
            <a:ext cx="1737360" cy="256032"/>
          </a:xfrm>
          <a:prstGeom prst="rect">
            <a:avLst/>
          </a:prstGeom>
          <a:solidFill>
            <a:schemeClr val="accent1">
              <a:alpha val="56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223760" y="2871216"/>
            <a:ext cx="1737360" cy="256032"/>
          </a:xfrm>
          <a:prstGeom prst="rect">
            <a:avLst/>
          </a:prstGeom>
          <a:solidFill>
            <a:schemeClr val="accent1">
              <a:alpha val="48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223760" y="3200400"/>
            <a:ext cx="1737360" cy="256032"/>
          </a:xfrm>
          <a:prstGeom prst="rect">
            <a:avLst/>
          </a:prstGeom>
          <a:solidFill>
            <a:schemeClr val="accent1">
              <a:alpha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223760" y="3529584"/>
            <a:ext cx="1737360" cy="256032"/>
          </a:xfrm>
          <a:prstGeom prst="rect">
            <a:avLst/>
          </a:prstGeom>
          <a:solidFill>
            <a:schemeClr val="accent1">
              <a:alpha val="32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132320" y="3931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~441 event rows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(seconds 0–599)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4000" y="2697480"/>
            <a:ext cx="5943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900684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aggregate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875520" y="2331720"/>
            <a:ext cx="178308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9875520" y="2331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 feature vector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762488" y="3108960"/>
            <a:ext cx="0" cy="6400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9875520" y="3794760"/>
            <a:ext cx="178308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9875520" y="37947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 target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Lagged features: what the recent past says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From 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book.parquet</a:t>
            </a:r>
            <a:r>
              <a:rPr lang="en-US" sz="1600" dirty="0">
                <a:solidFill>
                  <a:schemeClr val="tx1"/>
                </a:solidFill>
              </a:rPr>
              <a:t>, looking back from the window's end (</a:t>
            </a: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599</a:t>
            </a:r>
            <a:r>
              <a:rPr lang="en-US" sz="1600" dirty="0">
                <a:solidFill>
                  <a:schemeClr val="tx1"/>
                </a:solidFill>
              </a:rPr>
              <a:t>):</a:t>
            </a:r>
            <a:endParaRPr lang="en-US" sz="1600" dirty="0"/>
          </a:p>
        </p:txBody>
      </p:sp>
      <p:graphicFrame>
        <p:nvGraphicFramePr>
          <p:cNvPr id="2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340156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lag / window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rv_last_60s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√( Σ rₜ² ),  t = 540–599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 of the final minute — the freshest read on the market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rv_last_300s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√( Σ rₜ² ),  t = 300–599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second-half vol — compare with rv_window: is vol rising or falling?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rv_b00 … rv_b59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buckets × 10s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window as a short series — the LSTM reads this sequence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ewma_vol_30s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EWMA of rₜ², halflife 30s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smoothed current vol, reacts fast (next slide)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ewma_vol_120s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EWMA of rₜ², halflife 120s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slower, steadier level — fast minus slow shows the trend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868680" y="544068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No lags across time_id — windows aren't in time order, so “the previous window” doesn't exist. Every lag lives inside the window.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EWMA: smoothing a jagged signal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25880"/>
            <a:ext cx="11091672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Bullets"/>
          <p:cNvSpPr txBox="1"/>
          <p:nvPr/>
        </p:nvSpPr>
        <p:spPr>
          <a:xfrm>
            <a:off x="548640" y="4754880"/>
            <a:ext cx="11091672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Raw |rₜ|</a:t>
            </a:r>
            <a:r>
              <a:rPr lang="en-US" sz="1700" dirty="0">
                <a:solidFill>
                  <a:schemeClr val="tx1"/>
                </a:solidFill>
              </a:rPr>
              <a:t> per second: 70% of seconds show zero change, then sudden spikes. A feature read at one instant is mostly noise.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EWMA: σ²ₜ = λ·σ²ₜ₋₁ + (1−λ)·rₜ². Each second blends in the newest return; older ones fade. Halflife 30s ⇒ λ ≈ 0.977.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graphicFrame>
        <p:nvGraphicFramePr>
          <p:cNvPr id="26" name="EWMA chart"/>
          <p:cNvGraphicFramePr>
            <a:graphicFrameLocks noGrp="1"/>
          </p:cNvGraphicFramePr>
          <p:nvPr/>
        </p:nvGraphicFramePr>
        <p:xfrm>
          <a:off x="685800" y="1417320"/>
          <a:ext cx="1081735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PART 4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Classical ML — Random Forest &amp; XGBoost</a:t>
            </a:r>
            <a:endParaRPr lang="en-US" sz="4000" dirty="0"/>
          </a:p>
        </p:txBody>
      </p:sp>
      <p:sp>
        <p:nvSpPr>
          <p:cNvPr id="5" name="Part number"/>
          <p:cNvSpPr txBox="1"/>
          <p:nvPr/>
        </p:nvSpPr>
        <p:spPr>
          <a:xfrm>
            <a:off x="822960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alpha val="22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Framing the prediction task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71600"/>
            <a:ext cx="66751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897880" y="155448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main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554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Our task: regression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03120"/>
            <a:ext cx="6217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Predict the realized volatility of the </a:t>
            </a:r>
            <a:r>
              <a:rPr lang="en-US" sz="1900" b="1" dirty="0">
                <a:solidFill>
                  <a:schemeClr val="accent1"/>
                </a:solidFill>
              </a:rPr>
              <a:t>next 10 minutes</a:t>
            </a:r>
            <a:r>
              <a:rPr lang="en-US" sz="1900" dirty="0">
                <a:solidFill>
                  <a:schemeClr val="tx1"/>
                </a:solidFill>
              </a:rPr>
              <a:t> (</a:t>
            </a:r>
            <a:r>
              <a:rPr lang="en-US" sz="19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900" dirty="0">
                <a:solidFill>
                  <a:schemeClr val="tx1"/>
                </a:solidFill>
              </a:rPr>
              <a:t>, given), using order book and trade features from the </a:t>
            </a:r>
            <a:r>
              <a:rPr lang="en-US" sz="1900" b="1" dirty="0">
                <a:solidFill>
                  <a:schemeClr val="accent1"/>
                </a:solidFill>
              </a:rPr>
              <a:t>10 minutes before</a:t>
            </a:r>
            <a:r>
              <a:rPr lang="en-US" sz="1900" dirty="0">
                <a:solidFill>
                  <a:schemeClr val="tx1"/>
                </a:solidFill>
              </a:rPr>
              <a:t> it.</a:t>
            </a:r>
            <a:endParaRPr lang="en-US" sz="1900" dirty="0"/>
          </a:p>
        </p:txBody>
      </p:sp>
      <p:sp>
        <p:nvSpPr>
          <p:cNvPr id="9" name="Card"/>
          <p:cNvSpPr/>
          <p:nvPr/>
        </p:nvSpPr>
        <p:spPr>
          <a:xfrm>
            <a:off x="7498080" y="1371600"/>
            <a:ext cx="4142232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10314432" y="1554480"/>
            <a:ext cx="1143000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optional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15544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Extension: classification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103120"/>
            <a:ext cx="3685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same features also support: will price move up / down / stay flat over the next few events?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Either way: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80974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2588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Point-in-time features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306824" y="4663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480974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84064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Split by time_id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065008" y="4663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480974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842248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Naive baseline to beat first (persistence / zero-return)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…before trusting the model.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Decision trees: splitting by impurity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sp>
        <p:nvSpPr>
          <p:cNvPr id="26" name="Root"/>
          <p:cNvSpPr/>
          <p:nvPr/>
        </p:nvSpPr>
        <p:spPr>
          <a:xfrm>
            <a:off x="1691640" y="146304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imbalance &gt; 0.2 ?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10 windows: 5 up · 5 down · Gini 0.50</a:t>
            </a:r>
          </a:p>
        </p:txBody>
      </p:sp>
      <p:sp>
        <p:nvSpPr>
          <p:cNvPr id="27" name="Left leaf"/>
          <p:cNvSpPr/>
          <p:nvPr/>
        </p:nvSpPr>
        <p:spPr>
          <a:xfrm>
            <a:off x="548640" y="3154680"/>
            <a:ext cx="2697480" cy="9601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1E1B4B"/>
                </a:solidFill>
              </a:rPr>
              <a:t>yes</a:t>
            </a:r>
          </a:p>
          <a:p>
            <a:pPr algn="ctr"/>
            <a:r>
              <a:rPr sz="1400" b="0">
                <a:solidFill>
                  <a:srgbClr val="1E1B4B"/>
                </a:solidFill>
              </a:rPr>
              <a:t>4 up · 1 down · Gini 0.32</a:t>
            </a:r>
          </a:p>
        </p:txBody>
      </p:sp>
      <p:sp>
        <p:nvSpPr>
          <p:cNvPr id="28" name="Right leaf"/>
          <p:cNvSpPr/>
          <p:nvPr/>
        </p:nvSpPr>
        <p:spPr>
          <a:xfrm>
            <a:off x="3337560" y="3154680"/>
            <a:ext cx="2697480" cy="9601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1E1B4B"/>
                </a:solidFill>
              </a:rPr>
              <a:t>no</a:t>
            </a:r>
          </a:p>
          <a:p>
            <a:pPr algn="ctr"/>
            <a:r>
              <a:rPr sz="1400" b="0">
                <a:solidFill>
                  <a:srgbClr val="1E1B4B"/>
                </a:solidFill>
              </a:rPr>
              <a:t>1 up · 4 down · Gini 0.32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901952" y="2423160"/>
            <a:ext cx="932688" cy="73152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49039" y="2423160"/>
            <a:ext cx="932689" cy="73152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plit quality"/>
          <p:cNvSpPr/>
          <p:nvPr/>
        </p:nvSpPr>
        <p:spPr>
          <a:xfrm>
            <a:off x="548640" y="4389120"/>
            <a:ext cx="5486400" cy="1051560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E1B4B"/>
                </a:solidFill>
              </a:rPr>
              <a:t>Impurity drop = 0.50 − (½·0.32 + ½·0.32) = 0.18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The tree tries every feature and threshold, keeps the biggest drop, then repeats inside each child.</a:t>
            </a:r>
          </a:p>
        </p:txBody>
      </p:sp>
      <p:sp>
        <p:nvSpPr>
          <p:cNvPr id="32" name="Formula"/>
          <p:cNvSpPr/>
          <p:nvPr/>
        </p:nvSpPr>
        <p:spPr>
          <a:xfrm>
            <a:off x="6492240" y="1463040"/>
            <a:ext cx="5148072" cy="132588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600" b="1">
                <a:solidFill>
                  <a:srgbClr val="1E1B4B"/>
                </a:solidFill>
              </a:rPr>
              <a:t>Gini = 1 − Σ pₖ²</a:t>
            </a:r>
          </a:p>
          <a:p>
            <a:pPr algn="ctr"/>
            <a:r>
              <a:rPr sz="1500" b="0">
                <a:solidFill>
                  <a:srgbClr val="1E1B4B"/>
                </a:solidFill>
              </a:rPr>
              <a:t>pₖ = share of class k in the node. 0 = pure, 0.5 = 50/50 mix.</a:t>
            </a:r>
          </a:p>
        </p:txBody>
      </p:sp>
      <p:sp>
        <p:nvSpPr>
          <p:cNvPr id="33" name="Bullets"/>
          <p:cNvSpPr txBox="1"/>
          <p:nvPr/>
        </p:nvSpPr>
        <p:spPr>
          <a:xfrm>
            <a:off x="6492240" y="3063240"/>
            <a:ext cx="5148072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374151"/>
                </a:solidFill>
              </a:rPr>
              <a:t>A tree asks </a:t>
            </a:r>
            <a:r>
              <a:rPr sz="1500" b="1">
                <a:solidFill>
                  <a:srgbClr val="4338CA"/>
                </a:solidFill>
              </a:rPr>
              <a:t>yes/no questions</a:t>
            </a:r>
            <a:r>
              <a:rPr sz="1500" b="0">
                <a:solidFill>
                  <a:srgbClr val="374151"/>
                </a:solidFill>
              </a:rPr>
              <a:t> about features, splitting windows into purer and purer groups.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374151"/>
                </a:solidFill>
              </a:rPr>
              <a:t>It stops when nodes get small (</a:t>
            </a:r>
            <a:r>
              <a:rPr sz="1500" b="1">
                <a:solidFill>
                  <a:srgbClr val="4338CA"/>
                </a:solidFill>
              </a:rPr>
              <a:t>min_samples_leaf</a:t>
            </a:r>
            <a:r>
              <a:rPr sz="1500" b="0">
                <a:solidFill>
                  <a:srgbClr val="374151"/>
                </a:solidFill>
              </a:rPr>
              <a:t>); each leaf predicts its majority class or average.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374151"/>
                </a:solidFill>
              </a:rPr>
              <a:t>Our task is regression: same recipe, but impurity = </a:t>
            </a:r>
            <a:r>
              <a:rPr sz="1500" b="1">
                <a:solidFill>
                  <a:srgbClr val="4338CA"/>
                </a:solidFill>
              </a:rPr>
              <a:t>variance of the target</a:t>
            </a:r>
            <a:r>
              <a:rPr sz="1500" b="0">
                <a:solidFill>
                  <a:srgbClr val="374151"/>
                </a:solidFill>
              </a:rPr>
              <a:t> in the node. Best split = biggest variance drop.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Bagging: many trees, one average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sp>
        <p:nvSpPr>
          <p:cNvPr id="26" name="Data"/>
          <p:cNvSpPr/>
          <p:nvPr/>
        </p:nvSpPr>
        <p:spPr>
          <a:xfrm>
            <a:off x="548640" y="233172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Training data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N windows</a:t>
            </a:r>
          </a:p>
        </p:txBody>
      </p:sp>
      <p:sp>
        <p:nvSpPr>
          <p:cNvPr id="27" name="Sample 1"/>
          <p:cNvSpPr/>
          <p:nvPr/>
        </p:nvSpPr>
        <p:spPr>
          <a:xfrm>
            <a:off x="3063240" y="141732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1E1B4B"/>
                </a:solidFill>
              </a:rPr>
              <a:t>Bootstrap sample 1</a:t>
            </a:r>
          </a:p>
          <a:p>
            <a:pPr algn="ctr"/>
            <a:r>
              <a:rPr sz="1200" b="0">
                <a:solidFill>
                  <a:srgbClr val="1E1B4B"/>
                </a:solidFill>
              </a:rPr>
              <a:t>N rows, drawn with replacement</a:t>
            </a:r>
          </a:p>
        </p:txBody>
      </p:sp>
      <p:sp>
        <p:nvSpPr>
          <p:cNvPr id="28" name="Tree 1"/>
          <p:cNvSpPr/>
          <p:nvPr/>
        </p:nvSpPr>
        <p:spPr>
          <a:xfrm>
            <a:off x="6035040" y="141732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1E1B4B"/>
                </a:solidFill>
              </a:rPr>
              <a:t>Tree 1</a:t>
            </a:r>
          </a:p>
          <a:p>
            <a:pPr algn="ctr"/>
            <a:r>
              <a:rPr sz="1200" b="0">
                <a:solidFill>
                  <a:srgbClr val="1E1B4B"/>
                </a:solidFill>
              </a:rPr>
              <a:t>random features per split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468880" y="1783080"/>
            <a:ext cx="594360" cy="109728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40680" y="1783080"/>
            <a:ext cx="594360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46720" y="1783080"/>
            <a:ext cx="594360" cy="109728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ample 2"/>
          <p:cNvSpPr/>
          <p:nvPr/>
        </p:nvSpPr>
        <p:spPr>
          <a:xfrm>
            <a:off x="3063240" y="251460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1E1B4B"/>
                </a:solidFill>
              </a:rPr>
              <a:t>Bootstrap sample 2</a:t>
            </a:r>
          </a:p>
          <a:p>
            <a:pPr algn="ctr"/>
            <a:r>
              <a:rPr sz="1200" b="0">
                <a:solidFill>
                  <a:srgbClr val="1E1B4B"/>
                </a:solidFill>
              </a:rPr>
              <a:t>N rows, drawn with replacement</a:t>
            </a:r>
          </a:p>
        </p:txBody>
      </p:sp>
      <p:sp>
        <p:nvSpPr>
          <p:cNvPr id="33" name="Tree 2"/>
          <p:cNvSpPr/>
          <p:nvPr/>
        </p:nvSpPr>
        <p:spPr>
          <a:xfrm>
            <a:off x="6035040" y="251460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1E1B4B"/>
                </a:solidFill>
              </a:rPr>
              <a:t>Tree 2</a:t>
            </a:r>
          </a:p>
          <a:p>
            <a:pPr algn="ctr"/>
            <a:r>
              <a:rPr sz="1200" b="0">
                <a:solidFill>
                  <a:srgbClr val="1E1B4B"/>
                </a:solidFill>
              </a:rPr>
              <a:t>random features per split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68880" y="2880360"/>
            <a:ext cx="594360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440680" y="2880360"/>
            <a:ext cx="594360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046720" y="2880360"/>
            <a:ext cx="594360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ample 3"/>
          <p:cNvSpPr/>
          <p:nvPr/>
        </p:nvSpPr>
        <p:spPr>
          <a:xfrm>
            <a:off x="3063240" y="3611880"/>
            <a:ext cx="2377440" cy="7315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1E1B4B"/>
                </a:solidFill>
              </a:rPr>
              <a:t>Bootstrap sample 3</a:t>
            </a:r>
          </a:p>
          <a:p>
            <a:pPr algn="ctr"/>
            <a:r>
              <a:rPr sz="1200" b="0">
                <a:solidFill>
                  <a:srgbClr val="1E1B4B"/>
                </a:solidFill>
              </a:rPr>
              <a:t>N rows, drawn with replacement</a:t>
            </a:r>
          </a:p>
        </p:txBody>
      </p:sp>
      <p:sp>
        <p:nvSpPr>
          <p:cNvPr id="38" name="Tree 3"/>
          <p:cNvSpPr/>
          <p:nvPr/>
        </p:nvSpPr>
        <p:spPr>
          <a:xfrm>
            <a:off x="6035040" y="361188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200" b="1">
                <a:solidFill>
                  <a:srgbClr val="1E1B4B"/>
                </a:solidFill>
              </a:rPr>
              <a:t>Tree 3</a:t>
            </a:r>
          </a:p>
          <a:p>
            <a:pPr algn="ctr"/>
            <a:r>
              <a:rPr sz="1200" b="0">
                <a:solidFill>
                  <a:srgbClr val="1E1B4B"/>
                </a:solidFill>
              </a:rPr>
              <a:t>random features per split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68880" y="2880360"/>
            <a:ext cx="594360" cy="109728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440680" y="3977640"/>
            <a:ext cx="594360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046720" y="2880360"/>
            <a:ext cx="594360" cy="109728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verage"/>
          <p:cNvSpPr/>
          <p:nvPr/>
        </p:nvSpPr>
        <p:spPr>
          <a:xfrm>
            <a:off x="8641080" y="2331720"/>
            <a:ext cx="1417320" cy="109728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400" b="1">
                <a:solidFill>
                  <a:srgbClr val="1E1B4B"/>
                </a:solidFill>
              </a:rPr>
              <a:t>Average</a:t>
            </a:r>
          </a:p>
          <a:p>
            <a:pPr algn="ctr"/>
            <a:r>
              <a:rPr sz="1400" b="0">
                <a:solidFill>
                  <a:srgbClr val="1E1B4B"/>
                </a:solidFill>
              </a:rPr>
              <a:t>the trees</a:t>
            </a:r>
          </a:p>
        </p:txBody>
      </p:sp>
      <p:sp>
        <p:nvSpPr>
          <p:cNvPr id="43" name="Prediction"/>
          <p:cNvSpPr/>
          <p:nvPr/>
        </p:nvSpPr>
        <p:spPr>
          <a:xfrm>
            <a:off x="10469880" y="2331720"/>
            <a:ext cx="1170432" cy="109728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Final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prediction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58400" y="2880360"/>
            <a:ext cx="411480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Bullets"/>
          <p:cNvSpPr txBox="1"/>
          <p:nvPr/>
        </p:nvSpPr>
        <p:spPr>
          <a:xfrm>
            <a:off x="548640" y="4617720"/>
            <a:ext cx="11091672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500" b="1">
                <a:solidFill>
                  <a:srgbClr val="4338CA"/>
                </a:solidFill>
              </a:rPr>
              <a:t>Bootstrap</a:t>
            </a:r>
            <a:r>
              <a:rPr sz="1500" b="0">
                <a:solidFill>
                  <a:srgbClr val="374151"/>
                </a:solidFill>
              </a:rPr>
              <a:t>: draw N rows with replacement. Each tree sees about 63% of the windows, some of them twice.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374151"/>
                </a:solidFill>
              </a:rPr>
              <a:t>Each deep tree overfits in its own way; </a:t>
            </a:r>
            <a:r>
              <a:rPr sz="1500" b="1">
                <a:solidFill>
                  <a:srgbClr val="4338CA"/>
                </a:solidFill>
              </a:rPr>
              <a:t>averaging cancels the noise</a:t>
            </a:r>
            <a:r>
              <a:rPr sz="1500" b="0">
                <a:solidFill>
                  <a:srgbClr val="374151"/>
                </a:solidFill>
              </a:rPr>
              <a:t> → lower variance, same bias.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500" b="0">
                <a:solidFill>
                  <a:srgbClr val="374151"/>
                </a:solidFill>
              </a:rPr>
              <a:t>Random feature subsets make the trees disagree more, so averaging helps more. </a:t>
            </a:r>
            <a:r>
              <a:rPr sz="1500" b="1">
                <a:solidFill>
                  <a:srgbClr val="4338CA"/>
                </a:solidFill>
              </a:rPr>
              <a:t>Bagging + feature subsets = Random Forest.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Random Forest — why it's a good first model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number"/>
          <p:cNvSpPr/>
          <p:nvPr/>
        </p:nvSpPr>
        <p:spPr>
          <a:xfrm>
            <a:off x="749808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Bagging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Bagged decision trees, </a:t>
            </a:r>
            <a:r>
              <a:rPr lang="en-US" sz="1700" b="1" dirty="0">
                <a:solidFill>
                  <a:schemeClr val="accent1"/>
                </a:solidFill>
              </a:rPr>
              <a:t>each trained on a bootstrap sample</a:t>
            </a:r>
            <a:r>
              <a:rPr lang="en-US" sz="1700" dirty="0">
                <a:solidFill>
                  <a:schemeClr val="tx1"/>
                </a:solidFill>
              </a:rPr>
              <a:t> with random feature subsets per split.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99632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 number"/>
          <p:cNvSpPr/>
          <p:nvPr/>
        </p:nvSpPr>
        <p:spPr>
          <a:xfrm>
            <a:off x="6400800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00800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Non-linear interactions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Handles </a:t>
            </a:r>
            <a:r>
              <a:rPr lang="en-US" sz="1700" b="1" dirty="0">
                <a:solidFill>
                  <a:schemeClr val="accent1"/>
                </a:solidFill>
              </a:rPr>
              <a:t>non-linear feature interactions</a:t>
            </a:r>
            <a:r>
              <a:rPr lang="en-US" sz="1700" dirty="0">
                <a:solidFill>
                  <a:schemeClr val="tx1"/>
                </a:solidFill>
              </a:rPr>
              <a:t> (e.g. imbalance × spread) without manual interaction terms.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 number"/>
          <p:cNvSpPr/>
          <p:nvPr/>
        </p:nvSpPr>
        <p:spPr>
          <a:xfrm>
            <a:off x="749808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49808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Robust to messy features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Robust to feature scale, unaffected by outlier magnitude within a tree split (only order matters) — forgiving of messy LOB features.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6199632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ard number"/>
          <p:cNvSpPr/>
          <p:nvPr/>
        </p:nvSpPr>
        <p:spPr>
          <a:xfrm>
            <a:off x="6400800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6400800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Feature importance for free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28232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Useful sanity check: “is the model just relying on last-tick lag, i.e. barely better than naive?”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Random Forest: minimal pattern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548640" y="1325880"/>
            <a:ext cx="11091672" cy="365760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1325880"/>
            <a:ext cx="11091672" cy="365760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RandomForestRegressor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GroupKFold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gkf = GroupKFold(n_splits=5)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time_id never splits across folds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train_idx, test_idx in gkf.split(X, y, groups=df.time_id):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 = RandomForestRegressor(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n_estimators=300, max_depth=10, min_samples_leaf=20,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random_state=0, n_jobs=-1,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rf.fit(X.iloc[train_idx], y.iloc[train_idx],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sample_weight=1 / y.iloc[train_idx] ** 2)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matches RMSPE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preds = rf.predict(X.iloc[test_idx])</a:t>
            </a:r>
            <a:endParaRPr lang="en-US" sz="1500" dirty="0"/>
          </a:p>
        </p:txBody>
      </p:sp>
      <p:sp>
        <p:nvSpPr>
          <p:cNvPr id="7" name="Callout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12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68680" y="5257800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</a:t>
            </a:r>
            <a:r>
              <a:rPr lang="en-US" sz="1600" b="1" i="1" dirty="0">
                <a:solidFill>
                  <a:schemeClr val="tx2"/>
                </a:solidFill>
              </a:rPr>
              <a:t> matters more than usual here — LOB features are noisy, and shallow leaves just memorize microstructure noise.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XGBoost — why it's usually the step up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number"/>
          <p:cNvSpPr/>
          <p:nvPr/>
        </p:nvSpPr>
        <p:spPr>
          <a:xfrm>
            <a:off x="749808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Gradient boosting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Trees fit </a:t>
            </a:r>
            <a:r>
              <a:rPr lang="en-US" sz="1700" i="1" dirty="0">
                <a:solidFill>
                  <a:schemeClr val="tx1"/>
                </a:solidFill>
              </a:rPr>
              <a:t>sequentially</a:t>
            </a:r>
            <a:r>
              <a:rPr lang="en-US" sz="1700" dirty="0">
                <a:solidFill>
                  <a:schemeClr val="tx1"/>
                </a:solidFill>
              </a:rPr>
              <a:t> to the residual error of the ensemble so far — the same idea as residual fitting, which we reuse for the hybrid in Part 6.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99632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 number"/>
          <p:cNvSpPr/>
          <p:nvPr/>
        </p:nvSpPr>
        <p:spPr>
          <a:xfrm>
            <a:off x="6400800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00800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Built-in regularization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L1/L2 regularization</a:t>
            </a:r>
            <a:r>
              <a:rPr lang="en-US" sz="1700" dirty="0">
                <a:solidFill>
                  <a:schemeClr val="tx1"/>
                </a:solidFill>
              </a:rPr>
              <a:t> on leaf weights — controls overfitting to LOB noise better than plain boosting.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 number"/>
          <p:cNvSpPr/>
          <p:nvPr/>
        </p:nvSpPr>
        <p:spPr>
          <a:xfrm>
            <a:off x="749808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49808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Fast &amp; practical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Handles missing values natively, trains fast on tabular data at the size these datasets tend to be.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6199632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ard number"/>
          <p:cNvSpPr/>
          <p:nvPr/>
        </p:nvSpPr>
        <p:spPr>
          <a:xfrm>
            <a:off x="6400800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6400800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Usually beats RF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28232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Typically </a:t>
            </a:r>
            <a:r>
              <a:rPr lang="en-US" sz="1700" b="1" dirty="0">
                <a:solidFill>
                  <a:schemeClr val="accent1"/>
                </a:solidFill>
              </a:rPr>
              <a:t>outperforms RF</a:t>
            </a:r>
            <a:r>
              <a:rPr lang="en-US" sz="1700" dirty="0">
                <a:solidFill>
                  <a:schemeClr val="tx1"/>
                </a:solidFill>
              </a:rPr>
              <a:t> on tabular financial data when tuned — at the cost of being easier to overfit if you're not careful with early stopping.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XGBoost: each tree fixes the last one's error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sp>
        <p:nvSpPr>
          <p:cNvPr id="26" name="Step 0"/>
          <p:cNvSpPr/>
          <p:nvPr/>
        </p:nvSpPr>
        <p:spPr>
          <a:xfrm>
            <a:off x="548640" y="1417320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Start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ŷ₀ = 30</a:t>
            </a:r>
          </a:p>
          <a:p>
            <a:pPr algn="ctr"/>
            <a:r>
              <a:rPr sz="1300" b="0">
                <a:solidFill>
                  <a:srgbClr val="FFFFFF"/>
                </a:solidFill>
              </a:rPr>
              <a:t>average target</a:t>
            </a:r>
          </a:p>
        </p:txBody>
      </p:sp>
      <p:sp>
        <p:nvSpPr>
          <p:cNvPr id="27" name="Step 1"/>
          <p:cNvSpPr/>
          <p:nvPr/>
        </p:nvSpPr>
        <p:spPr>
          <a:xfrm>
            <a:off x="2830068" y="1417320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E1B4B"/>
                </a:solidFill>
              </a:rPr>
              <a:t>Tree 1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error 10 → predicts 8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+0.5 × 8 → ŷ = 34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14600" y="2034540"/>
            <a:ext cx="3154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ep 2"/>
          <p:cNvSpPr/>
          <p:nvPr/>
        </p:nvSpPr>
        <p:spPr>
          <a:xfrm>
            <a:off x="5111496" y="1417320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E1B4B"/>
                </a:solidFill>
              </a:rPr>
              <a:t>Tree 2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error 6 → predicts 6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+0.5 × 6 → ŷ = 37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96028" y="2034540"/>
            <a:ext cx="3154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ep 3"/>
          <p:cNvSpPr/>
          <p:nvPr/>
        </p:nvSpPr>
        <p:spPr>
          <a:xfrm>
            <a:off x="7392924" y="1417320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E1B4B"/>
                </a:solidFill>
              </a:rPr>
              <a:t>Tree 3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error 3 → predicts 3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+0.5 × 3 → ŷ = 38.5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77456" y="2034540"/>
            <a:ext cx="3154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tep 4"/>
          <p:cNvSpPr/>
          <p:nvPr/>
        </p:nvSpPr>
        <p:spPr>
          <a:xfrm>
            <a:off x="9674352" y="1417320"/>
            <a:ext cx="1965960" cy="123444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300" b="1">
                <a:solidFill>
                  <a:srgbClr val="1E1B4B"/>
                </a:solidFill>
              </a:rPr>
              <a:t>Final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ŷ = 38.5</a:t>
            </a:r>
          </a:p>
          <a:p>
            <a:pPr algn="ctr"/>
            <a:r>
              <a:rPr sz="1300" b="0">
                <a:solidFill>
                  <a:srgbClr val="1E1B4B"/>
                </a:solidFill>
              </a:rPr>
              <a:t>target 40, error 1.5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58884" y="2034540"/>
            <a:ext cx="315468" cy="0"/>
          </a:xfrm>
          <a:prstGeom prst="line">
            <a:avLst/>
          </a:prstGeom>
          <a:ln w="2222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xample note"/>
          <p:cNvSpPr txBox="1"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1">
                <a:solidFill>
                  <a:srgbClr val="374151"/>
                </a:solidFill>
              </a:rPr>
              <a:t>One window, target = 40 bps. Learning rate 0.5 here to keep the numbers readable; our model uses 0.03.</a:t>
            </a:r>
          </a:p>
        </p:txBody>
      </p:sp>
      <p:sp>
        <p:nvSpPr>
          <p:cNvPr id="36" name="Bullets"/>
          <p:cNvSpPr txBox="1"/>
          <p:nvPr/>
        </p:nvSpPr>
        <p:spPr>
          <a:xfrm>
            <a:off x="548640" y="3291840"/>
            <a:ext cx="585216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374151"/>
                </a:solidFill>
              </a:rPr>
              <a:t>Each new tree is trained on the </a:t>
            </a:r>
            <a:r>
              <a:rPr sz="1400" b="1">
                <a:solidFill>
                  <a:srgbClr val="4338CA"/>
                </a:solidFill>
              </a:rPr>
              <a:t>residuals</a:t>
            </a:r>
            <a:r>
              <a:rPr sz="1400" b="0">
                <a:solidFill>
                  <a:srgbClr val="374151"/>
                </a:solidFill>
              </a:rPr>
              <a:t> (target − current prediction) of all trees so far: residual fitting, repeated.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374151"/>
                </a:solidFill>
              </a:rPr>
              <a:t>The </a:t>
            </a:r>
            <a:r>
              <a:rPr sz="1400" b="1">
                <a:solidFill>
                  <a:srgbClr val="4338CA"/>
                </a:solidFill>
              </a:rPr>
              <a:t>learning rate</a:t>
            </a:r>
            <a:r>
              <a:rPr sz="1400" b="0">
                <a:solidFill>
                  <a:srgbClr val="374151"/>
                </a:solidFill>
              </a:rPr>
              <a:t> adds only a fraction of each tree, so many small corrections beat one big jump and overfit less.</a:t>
            </a:r>
          </a:p>
          <a:p>
            <a:pPr marL="256032" indent="-256032">
              <a:spcAft>
                <a:spcPts val="800"/>
              </a:spcAft>
              <a:buChar char="•"/>
            </a:pPr>
            <a:r>
              <a:rPr sz="1400" b="0">
                <a:solidFill>
                  <a:srgbClr val="374151"/>
                </a:solidFill>
              </a:rPr>
              <a:t>Our model: </a:t>
            </a:r>
            <a:r>
              <a:rPr sz="1400" b="1">
                <a:solidFill>
                  <a:srgbClr val="4338CA"/>
                </a:solidFill>
              </a:rPr>
              <a:t>949 trees, depth 4</a:t>
            </a:r>
            <a:r>
              <a:rPr sz="1400" b="0">
                <a:solidFill>
                  <a:srgbClr val="374151"/>
                </a:solidFill>
              </a:rPr>
              <a:t>. Early stopping picked the count on a validation split grouped by time_id.</a:t>
            </a:r>
          </a:p>
        </p:txBody>
      </p:sp>
      <p:graphicFrame>
        <p:nvGraphicFramePr>
          <p:cNvPr id="37" name="Error chart"/>
          <p:cNvGraphicFramePr>
            <a:graphicFrameLocks noGrp="1"/>
          </p:cNvGraphicFramePr>
          <p:nvPr/>
        </p:nvGraphicFramePr>
        <p:xfrm>
          <a:off x="6675120" y="3154680"/>
          <a:ext cx="4965192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XGBoost: minimal pattern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548640" y="1325880"/>
            <a:ext cx="11091672" cy="388620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1325880"/>
            <a:ext cx="11091672" cy="388620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xgboost as xgb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xgb.XGBRegressor(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n_estimators=1000, max_depth=5, learning_rate=0.03,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subsample=0.8, colsample_bytree=0.8,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reg_lambda=1.0, early_stopping_rounds=50,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y_train,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eval_set=[(X_val, y_val)], 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X_val: different time_ids from X_train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verbose=False,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7" name="Callout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868680" y="544068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eval_set</a:t>
            </a:r>
            <a:r>
              <a:rPr lang="en-US" sz="1600" b="1" i="1" dirty="0">
                <a:solidFill>
                  <a:schemeClr val="tx2"/>
                </a:solidFill>
              </a:rPr>
              <a:t> must hold different time_ids from training — early stopping on rows that share a time_id with training is lookahead in disguise.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Evaluating RF / XGB honestly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number"/>
          <p:cNvSpPr/>
          <p:nvPr/>
        </p:nvSpPr>
        <p:spPr>
          <a:xfrm>
            <a:off x="749808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Naive baseline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against persistence (next vol = this window's rv_window) or the mean target.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99632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 number"/>
          <p:cNvSpPr/>
          <p:nvPr/>
        </p:nvSpPr>
        <p:spPr>
          <a:xfrm>
            <a:off x="6400800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00800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Grouped CV by time_id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Report metrics </a:t>
            </a:r>
            <a:r>
              <a:rPr lang="en-US" sz="1700" b="1" dirty="0">
                <a:solidFill>
                  <a:schemeClr val="accent1"/>
                </a:solidFill>
              </a:rPr>
              <a:t>per fold</a:t>
            </a:r>
            <a:r>
              <a:rPr lang="en-US" sz="1700" dirty="0">
                <a:solidFill>
                  <a:schemeClr val="tx1"/>
                </a:solidFill>
              </a:rPr>
              <a:t>, not just averaged — financial signal often decays or regime-shifts across folds.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 number"/>
          <p:cNvSpPr/>
          <p:nvPr/>
        </p:nvSpPr>
        <p:spPr>
          <a:xfrm>
            <a:off x="749808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49808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Classification: confusion matrix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Not just accuracy — “flat” is usually the majority class, and a model that always predicts flat can look deceptively good.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6199632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ard number"/>
          <p:cNvSpPr/>
          <p:nvPr/>
        </p:nvSpPr>
        <p:spPr>
          <a:xfrm>
            <a:off x="6400800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6400800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Regression: residual autocorrelation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28232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RMSE alone can hide bias. If residuals are still autocorrelated, the model left structure on the table — segues into Part 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PART 5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Stats Model — GARCH</a:t>
            </a:r>
            <a:endParaRPr lang="en-US" sz="4000" dirty="0"/>
          </a:p>
        </p:txBody>
      </p:sp>
      <p:sp>
        <p:nvSpPr>
          <p:cNvPr id="5" name="Part number"/>
          <p:cNvSpPr txBox="1"/>
          <p:nvPr/>
        </p:nvSpPr>
        <p:spPr>
          <a:xfrm>
            <a:off x="822960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alpha val="22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go back to stats models at all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659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Trees give only a point estimate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611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They don't tell you </a:t>
            </a:r>
            <a:r>
              <a:rPr lang="en-US" sz="1600" i="1" dirty="0">
                <a:solidFill>
                  <a:schemeClr val="tx1"/>
                </a:solidFill>
              </a:rPr>
              <a:t>why</a:t>
            </a:r>
            <a:r>
              <a:rPr lang="en-US" sz="1600" dirty="0">
                <a:solidFill>
                  <a:schemeClr val="tx1"/>
                </a:solidFill>
              </a:rPr>
              <a:t> volatility is high right now or give a principled confidence interval.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306824" y="146304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581144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81144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Interpretable &amp; parametric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81144" y="3611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GARCH is battle-tested on exactly this kind of series — a strong, well-understood baseline.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065008" y="1463040"/>
            <a:ext cx="3575304" cy="448056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339328" y="17830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19659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39328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Volatility clusters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339328" y="36118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Returns famously </a:t>
            </a:r>
            <a:r>
              <a:rPr lang="en-US" sz="1600" b="1" dirty="0">
                <a:solidFill>
                  <a:schemeClr val="accent1"/>
                </a:solidFill>
              </a:rPr>
              <a:t>look uncorrelated but aren't independent</a:t>
            </a:r>
            <a:r>
              <a:rPr lang="en-US" sz="1600" dirty="0">
                <a:solidFill>
                  <a:schemeClr val="tx1"/>
                </a:solidFill>
              </a:rPr>
              <a:t> — calm periods, turbulent periods. GARCH exists specifically to model </a:t>
            </a:r>
            <a:r>
              <a:rPr lang="en-US" sz="1600" i="1" dirty="0">
                <a:solidFill>
                  <a:schemeClr val="tx1"/>
                </a:solidFill>
              </a:rPr>
              <a:t>that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Volatility clustering — why GARCH exists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325880"/>
            <a:ext cx="5120640" cy="4937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Plot squared (or absolute) returns over time: they come in </a:t>
            </a:r>
            <a:r>
              <a:rPr lang="en-US" sz="1700" b="1" dirty="0">
                <a:solidFill>
                  <a:schemeClr val="accent1"/>
                </a:solidFill>
              </a:rPr>
              <a:t>bursts</a:t>
            </a:r>
            <a:r>
              <a:rPr lang="en-US" sz="1700" dirty="0">
                <a:solidFill>
                  <a:schemeClr val="tx1"/>
                </a:solidFill>
              </a:rPr>
              <a:t> — big moves cluster together, calm periods cluster too.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plain returns model assumes </a:t>
            </a:r>
            <a:r>
              <a:rPr lang="en-US" sz="1700" b="1" dirty="0">
                <a:solidFill>
                  <a:schemeClr val="accent1"/>
                </a:solidFill>
              </a:rPr>
              <a:t>constant variance</a:t>
            </a:r>
            <a:r>
              <a:rPr lang="en-US" sz="1700" dirty="0">
                <a:solidFill>
                  <a:schemeClr val="tx1"/>
                </a:solidFill>
              </a:rPr>
              <a:t> (“homoskedastic”) — false for real markets.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</a:rPr>
              <a:t>ARCH effect</a:t>
            </a:r>
            <a:r>
              <a:rPr lang="en-US" sz="1700" dirty="0">
                <a:solidFill>
                  <a:schemeClr val="tx1"/>
                </a:solidFill>
              </a:rPr>
              <a:t>: the </a:t>
            </a:r>
            <a:r>
              <a:rPr lang="en-US" sz="1700" i="1" dirty="0">
                <a:solidFill>
                  <a:schemeClr val="tx1"/>
                </a:solidFill>
              </a:rPr>
              <a:t>variance</a:t>
            </a:r>
            <a:r>
              <a:rPr lang="en-US" sz="1700" dirty="0">
                <a:solidFill>
                  <a:schemeClr val="tx1"/>
                </a:solidFill>
              </a:rPr>
              <a:t> of today's shock depends on the </a:t>
            </a:r>
            <a:r>
              <a:rPr lang="en-US" sz="1700" i="1" dirty="0">
                <a:solidFill>
                  <a:schemeClr val="tx1"/>
                </a:solidFill>
              </a:rPr>
              <a:t>size</a:t>
            </a:r>
            <a:r>
              <a:rPr lang="en-US" sz="1700" dirty="0">
                <a:solidFill>
                  <a:schemeClr val="tx1"/>
                </a:solidFill>
              </a:rPr>
              <a:t> of recent shocks, even though the shocks themselves are roughly uncorrelated (mean-independent, variance-dependent).</a:t>
            </a:r>
            <a:endParaRPr lang="en-US" sz="1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897880" y="1325880"/>
          <a:ext cx="57607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897880" y="5760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Illustrative simulated data (α = 0.12, β = 0.86), not from the Optiver set.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GARCH — reading the formula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280160"/>
            <a:ext cx="1109167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Equation garch1" descr="garch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734" y="1444752"/>
            <a:ext cx="5206228" cy="502920"/>
          </a:xfrm>
          <a:prstGeom prst="rect">
            <a:avLst/>
          </a:prstGeom>
        </p:spPr>
      </p:pic>
      <p:pic>
        <p:nvPicPr>
          <p:cNvPr id="7" name="Equation garch2" descr="garch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350" y="2194560"/>
            <a:ext cx="4304995" cy="1090331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548640" y="3611880"/>
            <a:ext cx="2642616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4"/>
          <p:cNvSpPr txBox="1"/>
          <p:nvPr/>
        </p:nvSpPr>
        <p:spPr>
          <a:xfrm>
            <a:off x="777240" y="379476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ω: the floor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4343400"/>
            <a:ext cx="21854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little variance added every step. Sets the </a:t>
            </a:r>
            <a:r>
              <a:rPr lang="en-US" sz="1700" b="1" dirty="0">
                <a:solidFill>
                  <a:schemeClr val="accent1"/>
                </a:solidFill>
              </a:rPr>
              <a:t>long-run level</a:t>
            </a:r>
            <a:r>
              <a:rPr lang="en-US" sz="1700" dirty="0">
                <a:solidFill>
                  <a:schemeClr val="tx1"/>
                </a:solidFill>
              </a:rPr>
              <a:t>: ω/(1−α−β).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3364992" y="3611880"/>
            <a:ext cx="2642616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 txBox="1"/>
          <p:nvPr/>
        </p:nvSpPr>
        <p:spPr>
          <a:xfrm>
            <a:off x="3593592" y="379476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α · ε²: shock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4343400"/>
            <a:ext cx="21854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Last step's </a:t>
            </a:r>
            <a:r>
              <a:rPr lang="en-US" sz="1700" b="1" dirty="0">
                <a:solidFill>
                  <a:schemeClr val="accent1"/>
                </a:solidFill>
              </a:rPr>
              <a:t>squared move</a:t>
            </a:r>
            <a:r>
              <a:rPr lang="en-US" sz="1700" dirty="0">
                <a:solidFill>
                  <a:schemeClr val="tx1"/>
                </a:solidFill>
              </a:rPr>
              <a:t>. A big jump raises variance now; higher α = jumpier.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6181344" y="3611880"/>
            <a:ext cx="2642616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 txBox="1"/>
          <p:nvPr/>
        </p:nvSpPr>
        <p:spPr>
          <a:xfrm>
            <a:off x="6409944" y="379476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β · σ²: memory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409944" y="4343400"/>
            <a:ext cx="21854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Last step's variance carries over. Higher β = calm and wild spells last longer.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8997696" y="3611880"/>
            <a:ext cx="2642616" cy="2560320"/>
          </a:xfrm>
          <a:prstGeom prst="roundRect">
            <a:avLst>
              <a:gd name="adj" fmla="val 4286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9226296" y="379476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α + β: persistence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9226296" y="4343400"/>
            <a:ext cx="21854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Near 1 = slow fade back to normal (real data: ~0.9–0.99). We use one lag of each: GARCH(1,1), μ = 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GARCH on one window, step by step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number"/>
          <p:cNvSpPr/>
          <p:nvPr/>
        </p:nvSpPr>
        <p:spPr>
          <a:xfrm>
            <a:off x="749808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Group into 5-second returns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600 one-second returns, ~70% exactly zero. Sum each 5 in a row → 120 returns. Log returns add, so each sum is a true 5-second return.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99632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 number"/>
          <p:cNvSpPr/>
          <p:nvPr/>
        </p:nvSpPr>
        <p:spPr>
          <a:xfrm>
            <a:off x="6400800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00800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Fit ω, α, β by maximum likelihood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σ² is never observed, so there's nothing to regress on. An optimizer picks the values that make the 120 returns </a:t>
            </a:r>
            <a:r>
              <a:rPr lang="en-US" sz="1700" b="1" dirty="0">
                <a:solidFill>
                  <a:schemeClr val="accent1"/>
                </a:solidFill>
              </a:rPr>
              <a:t>least surprising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 number"/>
          <p:cNvSpPr/>
          <p:nvPr/>
        </p:nvSpPr>
        <p:spPr>
          <a:xfrm>
            <a:off x="749808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49808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Forecast 120 steps ahead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Future shocks are unknown, so use their average: σ²ₜ₊₁ = ω + (α + β)·σ²ₜ. Variance glides toward its long-run level.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6199632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ard number"/>
          <p:cNvSpPr/>
          <p:nvPr/>
        </p:nvSpPr>
        <p:spPr>
          <a:xfrm>
            <a:off x="6400800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6400800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Sum, then square root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28232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120 steps × 5s = the next 600s. Sum the 120 forecast variances, take √ — that's the predicted target.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GARCH: minimal pattern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548640" y="1325880"/>
            <a:ext cx="11091672" cy="2651760"/>
          </a:xfrm>
          <a:prstGeom prst="roundRect">
            <a:avLst>
              <a:gd name="adj" fmla="val 344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1325880"/>
            <a:ext cx="11091672" cy="265176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arch import arch_model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1-second returns are ~70% zeros: sum into 5-second returns (bps)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r.reshape(-1, 5).sum(axis=1) * 1e4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arch_model(x, mean="Zero", vol="GARCH", p=1, q=1).fit(disp="off")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120 steps x 5s = the next 600s; sum the variances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= res.forecast(horizon=120).variance.values[-1].sum()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vol_next_10min = var ** 0.5 / 1e4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425196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77240" y="4434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Matches our task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834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Fit on the window's returns, forecast 600s ahead: realized volatility of the next 10 minutes.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99632" y="425196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428232" y="4434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Aggregate before fitting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498348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70% of 1-second returns are zero; summing to </a:t>
            </a: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5-second returns</a:t>
            </a:r>
            <a:r>
              <a:rPr lang="en-US" sz="1700" dirty="0">
                <a:solidFill>
                  <a:schemeClr val="tx1"/>
                </a:solidFill>
              </a:rPr>
              <a:t> makes the fit far more stable.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PART 6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Hybrid Model — GARCH + Neural Net</a:t>
            </a:r>
            <a:endParaRPr lang="en-US" sz="4000" dirty="0"/>
          </a:p>
        </p:txBody>
      </p:sp>
      <p:sp>
        <p:nvSpPr>
          <p:cNvPr id="5" name="Part number"/>
          <p:cNvSpPr txBox="1"/>
          <p:nvPr/>
        </p:nvSpPr>
        <p:spPr>
          <a:xfrm>
            <a:off x="822960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alpha val="22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Residual fitting: the technique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344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Idea:</a:t>
            </a:r>
            <a:r>
              <a:rPr lang="en-US" sz="1700" dirty="0">
                <a:solidFill>
                  <a:schemeClr val="tx1"/>
                </a:solidFill>
              </a:rPr>
              <a:t> don't ask a model to learn the whole signal at once — fit a simple, well-understood baseline first, then model what's </a:t>
            </a:r>
            <a:r>
              <a:rPr lang="en-US" sz="1700" i="1" dirty="0">
                <a:solidFill>
                  <a:schemeClr val="tx1"/>
                </a:solidFill>
              </a:rPr>
              <a:t>left over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7607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Equation resid" descr="res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130" y="2130552"/>
            <a:ext cx="3493740" cy="10314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83680" y="20574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Then a second, more expressive model learns ε from richer features (spread, imbalance, trade activity).</a:t>
            </a:r>
            <a:endParaRPr lang="en-US" sz="1600" dirty="0"/>
          </a:p>
        </p:txBody>
      </p:sp>
      <p:sp>
        <p:nvSpPr>
          <p:cNvPr id="9" name="Bullets"/>
          <p:cNvSpPr txBox="1"/>
          <p:nvPr/>
        </p:nvSpPr>
        <p:spPr>
          <a:xfrm>
            <a:off x="548640" y="3840480"/>
            <a:ext cx="7498080" cy="2468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Baseline absorbs the easy, well-understood structure — here, </a:t>
            </a: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rv_window</a:t>
            </a:r>
            <a:r>
              <a:rPr lang="en-US" sz="1500" dirty="0">
                <a:solidFill>
                  <a:schemeClr val="tx1"/>
                </a:solidFill>
              </a:rPr>
              <a:t> alone already gets </a:t>
            </a:r>
            <a:r>
              <a:rPr lang="en-US" sz="1500" b="1" dirty="0">
                <a:solidFill>
                  <a:schemeClr val="accent1"/>
                </a:solidFill>
              </a:rPr>
              <a:t>RMSPE 0.31</a:t>
            </a:r>
            <a:r>
              <a:rPr lang="en-US" sz="1500" dirty="0">
                <a:solidFill>
                  <a:schemeClr val="tx1"/>
                </a:solidFill>
              </a:rPr>
              <a:t> against </a:t>
            </a: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second model only has to explain what the baseline </a:t>
            </a:r>
            <a:r>
              <a:rPr lang="en-US" sz="1500" i="1" dirty="0">
                <a:solidFill>
                  <a:schemeClr val="tx1"/>
                </a:solidFill>
              </a:rPr>
              <a:t>couldn't</a:t>
            </a:r>
            <a:r>
              <a:rPr lang="en-US" sz="1500" dirty="0">
                <a:solidFill>
                  <a:schemeClr val="tx1"/>
                </a:solidFill>
              </a:rPr>
              <a:t> — smaller residual variance is easier to fit without overfitting noise.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Next: the baseline becomes </a:t>
            </a:r>
            <a:r>
              <a:rPr lang="en-US" sz="1500" b="1" dirty="0">
                <a:solidFill>
                  <a:schemeClr val="accent1"/>
                </a:solidFill>
              </a:rPr>
              <a:t>GARCH's forecast</a:t>
            </a:r>
            <a:r>
              <a:rPr lang="en-US" sz="1500" dirty="0">
                <a:solidFill>
                  <a:schemeClr val="tx1"/>
                </a:solidFill>
              </a:rPr>
              <a:t>, and a neural net learns the residual.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0" y="3886200"/>
            <a:ext cx="341071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8412480" y="4005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Metric (Kaggle's official score)</a:t>
            </a:r>
            <a:endParaRPr lang="en-US" sz="1300" dirty="0"/>
          </a:p>
        </p:txBody>
      </p:sp>
      <p:pic>
        <p:nvPicPr>
          <p:cNvPr id="12" name="Equation rmspe" descr="rmsp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7626" y="4526280"/>
            <a:ext cx="2643805" cy="8167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Residual fitting: a worked mini-example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548640" y="1325880"/>
            <a:ext cx="11091672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1325880"/>
            <a:ext cx="11091672" cy="260604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baseline_pred = X_train["rv_window"]           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naive: RMSPE 0.31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resid_train = y_train - baseline_pred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model2 = XGBRegressor().fit(X_train_rich, resid_train) 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richer features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resid_pred = model2.predict(X_test_rich)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X_test["rv_window"] + resid_pred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4206240"/>
            <a:ext cx="357530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Card number"/>
          <p:cNvSpPr/>
          <p:nvPr/>
        </p:nvSpPr>
        <p:spPr>
          <a:xfrm>
            <a:off x="749808" y="44211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749808" y="4421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43891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Stage 1: free baseline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93776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rv_window</a:t>
            </a:r>
            <a:r>
              <a:rPr lang="en-US" sz="1600" dirty="0">
                <a:solidFill>
                  <a:schemeClr val="tx1"/>
                </a:solidFill>
              </a:rPr>
              <a:t> is the free, no-training-required baseline.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4306824" y="4206240"/>
            <a:ext cx="357530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Card number"/>
          <p:cNvSpPr/>
          <p:nvPr/>
        </p:nvSpPr>
        <p:spPr>
          <a:xfrm>
            <a:off x="4507992" y="44211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4507992" y="4421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84064" y="43891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Stage 2: rich model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35424" y="493776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X_train_rich</a:t>
            </a:r>
            <a:r>
              <a:rPr lang="en-US" sz="1600" dirty="0">
                <a:solidFill>
                  <a:schemeClr val="tx1"/>
                </a:solidFill>
              </a:rPr>
              <a:t> = the full feature table: spread, imbalance, WAP stats, trade activity.</a:t>
            </a:r>
            <a:endParaRPr lang="en-US" sz="1600" dirty="0"/>
          </a:p>
        </p:txBody>
      </p:sp>
      <p:sp>
        <p:nvSpPr>
          <p:cNvPr id="17" name="Card"/>
          <p:cNvSpPr/>
          <p:nvPr/>
        </p:nvSpPr>
        <p:spPr>
          <a:xfrm>
            <a:off x="8065008" y="4206240"/>
            <a:ext cx="3575304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Card number"/>
          <p:cNvSpPr/>
          <p:nvPr/>
        </p:nvSpPr>
        <p:spPr>
          <a:xfrm>
            <a:off x="8266176" y="44211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8266176" y="44211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842248" y="43891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Both stages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93608" y="493776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Same lookahead rules apply to </a:t>
            </a:r>
            <a:r>
              <a:rPr lang="en-US" sz="1600" b="1" dirty="0">
                <a:solidFill>
                  <a:schemeClr val="accent1"/>
                </a:solidFill>
              </a:rPr>
              <a:t>both</a:t>
            </a:r>
            <a:r>
              <a:rPr lang="en-US" sz="1600" dirty="0">
                <a:solidFill>
                  <a:schemeClr val="tx1"/>
                </a:solidFill>
              </a:rPr>
              <a:t> stages independently.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hybridize instead of “just use a bigger NN”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3575304" cy="420624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82296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Pure GARCH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Sees </a:t>
            </a:r>
            <a:r>
              <a:rPr lang="en-US" sz="1600" b="1" dirty="0">
                <a:solidFill>
                  <a:schemeClr val="accent1"/>
                </a:solidFill>
              </a:rPr>
              <a:t>only</a:t>
            </a:r>
            <a:r>
              <a:rPr lang="en-US" sz="1600" dirty="0">
                <a:solidFill>
                  <a:schemeClr val="tx2"/>
                </a:solidFill>
              </a:rPr>
              <a:t> the window's own returns — ignores imbalance, spread, trade activity, and non-linear effects.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06824" y="1463040"/>
            <a:ext cx="3575304" cy="420624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4581144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Pure NN on raw returns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81144" y="24231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Has to </a:t>
            </a:r>
            <a:r>
              <a:rPr lang="en-US" sz="1600" b="1" dirty="0">
                <a:solidFill>
                  <a:schemeClr val="accent1"/>
                </a:solidFill>
              </a:rPr>
              <a:t>re-learn</a:t>
            </a:r>
            <a:r>
              <a:rPr lang="en-US" sz="1600" dirty="0">
                <a:solidFill>
                  <a:schemeClr val="tx2"/>
                </a:solidFill>
              </a:rPr>
              <a:t> volatility clustering from scratch — wastes capacity, easy to overfit noisy high-frequency data.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65008" y="1463040"/>
            <a:ext cx="3575304" cy="4206240"/>
          </a:xfrm>
          <a:prstGeom prst="roundRect">
            <a:avLst>
              <a:gd name="adj" fmla="val 306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8339328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Hybrid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339328" y="24231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</a:t>
            </a:r>
            <a:r>
              <a:rPr lang="en-US" sz="1600" b="1" dirty="0">
                <a:solidFill>
                  <a:schemeClr val="accent2"/>
                </a:solidFill>
              </a:rPr>
              <a:t>residual-fitting idea</a:t>
            </a:r>
            <a:r>
              <a:rPr lang="en-US" sz="1600" dirty="0">
                <a:solidFill>
                  <a:schemeClr val="bg1"/>
                </a:solidFill>
              </a:rPr>
              <a:t> from the previous slides: GARCH is the baseline, the net learns the leftover.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Hybrid architecture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548640" y="1280160"/>
            <a:ext cx="7178040" cy="4160520"/>
          </a:xfrm>
          <a:prstGeom prst="roundRect">
            <a:avLst>
              <a:gd name="adj" fmla="val 219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1280160"/>
            <a:ext cx="7178040" cy="416052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(baseline):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GARCH(1,1) fit on the window's 5-second returns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sigma_hat = forecast vol of the next 10 minutes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(correction):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features x = [60-bucket vol sequence, rv_window, lags,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EWMA vols, spread, imbalance, trade stats]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LSTM over the buckets + MLP over the rest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e_hat ~ log(target / sigma_hat)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GARCH missed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forecast: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target_hat = sigma_hat * exp(e_hat)</a:t>
            </a:r>
            <a:endParaRPr lang="en-US" sz="1350" dirty="0"/>
          </a:p>
        </p:txBody>
      </p:sp>
      <p:sp>
        <p:nvSpPr>
          <p:cNvPr id="7" name="Flow box"/>
          <p:cNvSpPr txBox="1"/>
          <p:nvPr/>
        </p:nvSpPr>
        <p:spPr>
          <a:xfrm>
            <a:off x="8092440" y="1280160"/>
            <a:ext cx="35478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5-second </a:t>
            </a:r>
            <a:r>
              <a:rPr lang="en-US" sz="1500" b="1" dirty="0">
                <a:solidFill>
                  <a:schemeClr val="tx2"/>
                </a:solidFill>
              </a:rPr>
              <a:t>returns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866376" y="1920240"/>
            <a:ext cx="0" cy="21031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Flow box"/>
          <p:cNvSpPr txBox="1"/>
          <p:nvPr/>
        </p:nvSpPr>
        <p:spPr>
          <a:xfrm>
            <a:off x="8092440" y="2148840"/>
            <a:ext cx="35478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GARCH</a:t>
            </a:r>
            <a:r>
              <a:rPr lang="en-US" sz="1500" dirty="0">
                <a:solidFill>
                  <a:schemeClr val="tx2"/>
                </a:solidFill>
              </a:rPr>
              <a:t> → σ̂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866376" y="2788920"/>
            <a:ext cx="0" cy="21031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Flow box"/>
          <p:cNvSpPr txBox="1"/>
          <p:nvPr/>
        </p:nvSpPr>
        <p:spPr>
          <a:xfrm>
            <a:off x="8092440" y="3017520"/>
            <a:ext cx="3547872" cy="621792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residual </a:t>
            </a:r>
            <a:r>
              <a:rPr lang="en-US" sz="1500" b="1" dirty="0">
                <a:solidFill>
                  <a:schemeClr val="tx2"/>
                </a:solidFill>
              </a:rPr>
              <a:t>log(target / σ̂)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866376" y="3657600"/>
            <a:ext cx="0" cy="21031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Flow box"/>
          <p:cNvSpPr txBox="1"/>
          <p:nvPr/>
        </p:nvSpPr>
        <p:spPr>
          <a:xfrm>
            <a:off x="8092440" y="3886200"/>
            <a:ext cx="3547872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LSTM + MLP</a:t>
            </a:r>
            <a:r>
              <a:rPr lang="en-US" sz="1500" dirty="0">
                <a:solidFill>
                  <a:schemeClr val="tx2"/>
                </a:solidFill>
              </a:rPr>
              <a:t> → ê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866376" y="4526280"/>
            <a:ext cx="0" cy="21031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Flow box"/>
          <p:cNvSpPr txBox="1"/>
          <p:nvPr/>
        </p:nvSpPr>
        <p:spPr>
          <a:xfrm>
            <a:off x="8092440" y="4754880"/>
            <a:ext cx="3547872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σ̂ · exp(ê)</a:t>
            </a:r>
            <a:endParaRPr lang="en-US" sz="1500" dirty="0"/>
          </a:p>
        </p:txBody>
      </p:sp>
      <p:sp>
        <p:nvSpPr>
          <p:cNvPr id="16" name="Callout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868680" y="562356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chemeClr val="tx2"/>
                </a:solidFill>
              </a:rPr>
              <a:t>Same lookahead discipline as Part 2: every input to Stage 2 must be knowable strictly before t, including the GARCH forecast itself.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Why an LSTM (or small MLP) for the residual stage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number"/>
          <p:cNvSpPr/>
          <p:nvPr/>
        </p:nvSpPr>
        <p:spPr>
          <a:xfrm>
            <a:off x="749808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Residuals aren't white noise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GARCH sees only returns; what it misses (order-book pressure, trade activity, non-linear effects) lands in the residual.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199632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 number"/>
          <p:cNvSpPr/>
          <p:nvPr/>
        </p:nvSpPr>
        <p:spPr>
          <a:xfrm>
            <a:off x="6400800" y="158648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400800" y="1586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976872" y="15544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LSTM sees non-linear memory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28232" y="210312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small </a:t>
            </a:r>
            <a:r>
              <a:rPr lang="en-US" sz="1700" b="1" dirty="0">
                <a:solidFill>
                  <a:schemeClr val="accent1"/>
                </a:solidFill>
              </a:rPr>
              <a:t>LSTM</a:t>
            </a:r>
            <a:r>
              <a:rPr lang="en-US" sz="1700" dirty="0">
                <a:solidFill>
                  <a:schemeClr val="tx1"/>
                </a:solidFill>
              </a:rPr>
              <a:t> reads the 60-bucket vol sequence and picks up shapes (rising, fading, one-off spike) that GARCH's fixed recursion can't.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 number"/>
          <p:cNvSpPr/>
          <p:nvPr/>
        </p:nvSpPr>
        <p:spPr>
          <a:xfrm>
            <a:off x="749808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49808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it small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1–2 layers, modest hidden size. Residuals are a low-signal target — an oversized net will fit noise, not signal.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6199632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Card number"/>
          <p:cNvSpPr/>
          <p:nvPr/>
        </p:nvSpPr>
        <p:spPr>
          <a:xfrm>
            <a:off x="6400800" y="40553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6400800" y="40553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76872" y="4023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Try a plain MLP first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28232" y="45720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An MLP on a handful of lagged/engineered features is often competitive with an LSTM here and much faster to train/debug.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Hybrid: minimal pattern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548640" y="1280160"/>
            <a:ext cx="11091672" cy="4983480"/>
          </a:xfrm>
          <a:prstGeom prst="roundRect">
            <a:avLst>
              <a:gd name="adj" fmla="val 183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ode"/>
          <p:cNvSpPr txBox="1"/>
          <p:nvPr/>
        </p:nvSpPr>
        <p:spPr>
          <a:xfrm>
            <a:off x="548640" y="1280160"/>
            <a:ext cx="11091672" cy="4983480"/>
          </a:xfrm>
          <a:prstGeom prst="rect">
            <a:avLst/>
          </a:prstGeom>
          <a:noFill/>
          <a:ln/>
        </p:spPr>
        <p:txBody>
          <a:bodyPr wrap="square" lIns="152400" tIns="203200" rIns="203200" bIns="1524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garch_pred = garch_forecast(window_returns) 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1, per window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ResidualNet(n_static) 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LSTM(16) over 60 buckets + small MLP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torch.optim.Adam(net.parameters(), lr=1e-3)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epoch in range(100):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garch_pred * torch.exp(net(seq, static))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learns log(target/garch)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rmspe(pred, target)                     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Kaggle metric directly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opt.zero_grad(); loss.backward(); opt.step()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500" i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early stopping on a validation split grouped by time_id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final_forecast = garch_pred_test * torch.exp(net(seq_test, static_test))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Evaluating the hybrid fairly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548640" y="1463040"/>
            <a:ext cx="3575304" cy="420624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Card number"/>
          <p:cNvSpPr/>
          <p:nvPr/>
        </p:nvSpPr>
        <p:spPr>
          <a:xfrm>
            <a:off x="749808" y="16779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49808" y="16779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459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Three-way comparison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94560"/>
            <a:ext cx="311810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Compare </a:t>
            </a:r>
            <a:r>
              <a:rPr lang="en-US" sz="1800" b="1" dirty="0">
                <a:solidFill>
                  <a:schemeClr val="accent1"/>
                </a:solidFill>
              </a:rPr>
              <a:t>GARCH alone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chemeClr val="accent1"/>
                </a:solidFill>
              </a:rPr>
              <a:t>NN alone</a:t>
            </a:r>
            <a:r>
              <a:rPr lang="en-US" sz="1800" dirty="0">
                <a:solidFill>
                  <a:schemeClr val="tx1"/>
                </a:solidFill>
              </a:rPr>
              <a:t>, and the </a:t>
            </a:r>
            <a:r>
              <a:rPr lang="en-US" sz="1800" b="1" dirty="0">
                <a:solidFill>
                  <a:schemeClr val="accent1"/>
                </a:solidFill>
              </a:rPr>
              <a:t>hybrid</a:t>
            </a:r>
            <a:r>
              <a:rPr lang="en-US" sz="1800" dirty="0">
                <a:solidFill>
                  <a:schemeClr val="tx1"/>
                </a:solidFill>
              </a:rPr>
              <a:t> on the same test windows, grouped by time_id.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4306824" y="1463040"/>
            <a:ext cx="3575304" cy="420624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Card number"/>
          <p:cNvSpPr/>
          <p:nvPr/>
        </p:nvSpPr>
        <p:spPr>
          <a:xfrm>
            <a:off x="4507992" y="16779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4507992" y="16779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084064" y="16459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“No gain” is a result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35424" y="2194560"/>
            <a:ext cx="311810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If the hybrid doesn't beat GARCH alone, the residuals were closer to white noise than you assumed — a </a:t>
            </a:r>
            <a:r>
              <a:rPr lang="en-US" sz="1800" b="1" dirty="0">
                <a:solidFill>
                  <a:schemeClr val="accent1"/>
                </a:solidFill>
              </a:rPr>
              <a:t>valid, useful finding</a:t>
            </a:r>
            <a:r>
              <a:rPr lang="en-US" sz="1800" dirty="0">
                <a:solidFill>
                  <a:schemeClr val="tx1"/>
                </a:solidFill>
              </a:rPr>
              <a:t>, not a failure.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8065008" y="1463040"/>
            <a:ext cx="3575304" cy="4206240"/>
          </a:xfrm>
          <a:prstGeom prst="roundRect">
            <a:avLst>
              <a:gd name="adj" fmla="val 306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Card number"/>
          <p:cNvSpPr/>
          <p:nvPr/>
        </p:nvSpPr>
        <p:spPr>
          <a:xfrm>
            <a:off x="8266176" y="167792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8266176" y="16779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842248" y="16459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Cost vs. gain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293608" y="2194560"/>
            <a:ext cx="311810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 hybrid that adds 2% RMSPE improvement for 10× the complexity may not be worth deploying — always weigh against the classical baseline's simplicity.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1828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1600" b="1" kern="0" spc="300" dirty="0">
                <a:solidFill>
                  <a:schemeClr val="accent2"/>
                </a:solidFill>
              </a:rPr>
              <a:t>WRAP-UP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2331720"/>
            <a:ext cx="7680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When to reach for which tool</a:t>
            </a:r>
            <a:endParaRPr lang="en-US" sz="4000" dirty="0"/>
          </a:p>
        </p:txBody>
      </p:sp>
      <p:sp>
        <p:nvSpPr>
          <p:cNvPr id="4" name="Part number"/>
          <p:cNvSpPr txBox="1"/>
          <p:nvPr/>
        </p:nvSpPr>
        <p:spPr>
          <a:xfrm>
            <a:off x="822960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alpha val="22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 comparison at a glance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graphicFrame>
        <p:nvGraphicFramePr>
          <p:cNvPr id="5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886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Captures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Blind spot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Best use here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 Forest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non-linear feature interactions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explicit time structure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quick, robust baseline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XGBoost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same, + sequential error correction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can overfit noise if untuned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best tabular baseline, feature importance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GARCH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volatility clustering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assumes returns roughly mean-zero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realized volatility forecasting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GARCH+NN hybrid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vol clustering + order-book effects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needs care to not overfit residuals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when residuals show real leftover structure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 on held-out windows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graphicFrame>
        <p:nvGraphicFramePr>
          <p:cNvPr id="5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38404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RMSPE ↓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R²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vs naive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Naive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0.321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0.68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GARCH(1,1)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0.288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10% better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 Forest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0.239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25% better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XGBoost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0.237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26% better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GARCH + XGBoost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0.234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27% better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21777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GARCH + NN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0.234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27% better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53708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  <p:sp>
        <p:nvSpPr>
          <p:cNvPr id="53" name="Caption"/>
          <p:cNvSpPr txBox="1"/>
          <p:nvPr/>
        </p:nvSpPr>
        <p:spPr>
          <a:xfrm>
            <a:off x="548640" y="5440680"/>
            <a:ext cx="5486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i="1">
                <a:solidFill>
                  <a:srgbClr val="4B5563"/>
                </a:solidFill>
              </a:rPr>
              <a:t>15 stocks · 11,490 test windows from time_ids no model saw in training · RMSPE is the competition metric, lower is better.</a:t>
            </a:r>
          </a:p>
        </p:txBody>
      </p:sp>
      <p:graphicFrame>
        <p:nvGraphicFramePr>
          <p:cNvPr id="54" name="RMSPE chart"/>
          <p:cNvGraphicFramePr>
            <a:graphicFrameLocks noGrp="1"/>
          </p:cNvGraphicFramePr>
          <p:nvPr/>
        </p:nvGraphicFramePr>
        <p:xfrm>
          <a:off x="6355080" y="1280160"/>
          <a:ext cx="5303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474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one rule that matters more than any model choice</a:t>
            </a:r>
            <a:endParaRPr lang="en-US" sz="3000" dirty="0"/>
          </a:p>
        </p:txBody>
      </p:sp>
      <p:sp>
        <p:nvSpPr>
          <p:cNvPr id="3" name="Icon circle"/>
          <p:cNvSpPr/>
          <p:nvPr/>
        </p:nvSpPr>
        <p:spPr>
          <a:xfrm>
            <a:off x="11018520" y="411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557784"/>
            <a:ext cx="347472" cy="347472"/>
          </a:xfrm>
          <a:prstGeom prst="rect">
            <a:avLst/>
          </a:prstGeom>
        </p:spPr>
      </p:pic>
      <p:sp>
        <p:nvSpPr>
          <p:cNvPr id="5" name="Callout"/>
          <p:cNvSpPr/>
          <p:nvPr/>
        </p:nvSpPr>
        <p:spPr>
          <a:xfrm>
            <a:off x="548640" y="1554480"/>
            <a:ext cx="11091672" cy="1920240"/>
          </a:xfrm>
          <a:prstGeom prst="roundRect">
            <a:avLst>
              <a:gd name="adj" fmla="val 5714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868680" y="1554480"/>
            <a:ext cx="104515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/>
                </a:solidFill>
              </a:rPr>
              <a:t>If your validation split isn't grouped by time_id, and your features aren't provably point-in-time, none of the numbers on the previous slide mean anything.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Cleaning and lookahead discipline (Part 2) is not the boring warm-up before the “real” modelling — on financial data, it </a:t>
            </a:r>
            <a:r>
              <a:rPr lang="en-US" sz="2000" b="1" dirty="0">
                <a:solidFill>
                  <a:schemeClr val="accent1"/>
                </a:solidFill>
              </a:rPr>
              <a:t>is</a:t>
            </a:r>
            <a:r>
              <a:rPr lang="en-US" sz="2000" dirty="0">
                <a:solidFill>
                  <a:schemeClr val="tx1"/>
                </a:solidFill>
              </a:rPr>
              <a:t> most of the actual work.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3" hasCustomPrompt="1"/>
          </p:nvPr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chemeClr val="bg1"/>
                </a:solidFill>
              </a:rPr>
              <a:t>Thanks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50771" y="3246121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</a:rPr>
              <a:t>IITG.AI — Time Series Workshop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Data: kaggle.com/competitions/optiver-realized-volatility-prediction/data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der Book Indigo">
  <a:themeElements>
    <a:clrScheme name="Order Book Indigo">
      <a:dk1>
        <a:srgbClr val="1C1917"/>
      </a:dk1>
      <a:lt1>
        <a:srgbClr val="FFFFFF"/>
      </a:lt1>
      <a:dk2>
        <a:srgbClr val="1E1B4B"/>
      </a:dk2>
      <a:lt2>
        <a:srgbClr val="EEF2FF"/>
      </a:lt2>
      <a:accent1>
        <a:srgbClr val="4338CA"/>
      </a:accent1>
      <a:accent2>
        <a:srgbClr val="F59E0B"/>
      </a:accent2>
      <a:accent3>
        <a:srgbClr val="6D28D9"/>
      </a:accent3>
      <a:accent4>
        <a:srgbClr val="0F766E"/>
      </a:accent4>
      <a:accent5>
        <a:srgbClr val="B91C1C"/>
      </a:accent5>
      <a:accent6>
        <a:srgbClr val="A5B4FC"/>
      </a:accent6>
      <a:hlink>
        <a:srgbClr val="4338CA"/>
      </a:hlink>
      <a:folHlink>
        <a:srgbClr val="6D28D9"/>
      </a:folHlink>
    </a:clrScheme>
    <a:fontScheme name="Order Book Indig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5774</Words>
  <Application>Microsoft Office PowerPoint</Application>
  <PresentationFormat>Widescreen</PresentationFormat>
  <Paragraphs>762</Paragraphs>
  <Slides>56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Cambria</vt:lpstr>
      <vt:lpstr>Courier New</vt:lpstr>
      <vt:lpstr>Order Book Indigo</vt:lpstr>
      <vt:lpstr>Time Series Forecasting on Order Book Data</vt:lpstr>
      <vt:lpstr>Agenda: what we'll build, in order</vt:lpstr>
      <vt:lpstr>Order Book Basics &amp; The Dataset</vt:lpstr>
      <vt:lpstr>Anatomy of a limit order book</vt:lpstr>
      <vt:lpstr>Why this matters for modelling</vt:lpstr>
      <vt:lpstr>Our dataset: Optiver Realized Volatility</vt:lpstr>
      <vt:lpstr>Getting the data: Kaggle competition files</vt:lpstr>
      <vt:lpstr>Columns: book.parquet</vt:lpstr>
      <vt:lpstr>Columns: trade.parquet</vt:lpstr>
      <vt:lpstr>Columns: train.csv</vt:lpstr>
      <vt:lpstr>What are we actually predicting?</vt:lpstr>
      <vt:lpstr>Framing it as a table</vt:lpstr>
      <vt:lpstr>How target is actually computed</vt:lpstr>
      <vt:lpstr>Why WAP, not the trade or mid price</vt:lpstr>
      <vt:lpstr>Today's slice</vt:lpstr>
      <vt:lpstr>Cleaning &amp; Avoiding Lookahead</vt:lpstr>
      <vt:lpstr>Cleaning pass: what this dataset actually needs</vt:lpstr>
      <vt:lpstr>Lookahead bias: the core rule</vt:lpstr>
      <vt:lpstr>Lookahead bias: our specific trap</vt:lpstr>
      <vt:lpstr>The fix: point-in-time discipline</vt:lpstr>
      <vt:lpstr>Feature Engineering</vt:lpstr>
      <vt:lpstr>Log returns of WAP, not raw prices</vt:lpstr>
      <vt:lpstr>Order book features we actually built</vt:lpstr>
      <vt:lpstr>Trade features we actually built</vt:lpstr>
      <vt:lpstr>One row per window, not one row per second</vt:lpstr>
      <vt:lpstr>Lagged features: what the recent past says</vt:lpstr>
      <vt:lpstr>EWMA: smoothing a jagged signal</vt:lpstr>
      <vt:lpstr>Classical ML — Random Forest &amp; XGBoost</vt:lpstr>
      <vt:lpstr>Framing the prediction task</vt:lpstr>
      <vt:lpstr>Decision trees: splitting by impurity</vt:lpstr>
      <vt:lpstr>Bagging: many trees, one average</vt:lpstr>
      <vt:lpstr>Random Forest — why it's a good first model</vt:lpstr>
      <vt:lpstr>Random Forest: minimal pattern</vt:lpstr>
      <vt:lpstr>XGBoost — why it's usually the step up</vt:lpstr>
      <vt:lpstr>XGBoost: each tree fixes the last one's error</vt:lpstr>
      <vt:lpstr>XGBoost: minimal pattern</vt:lpstr>
      <vt:lpstr>Evaluating RF / XGB honestly</vt:lpstr>
      <vt:lpstr>Stats Model — GARCH</vt:lpstr>
      <vt:lpstr>Why go back to stats models at all</vt:lpstr>
      <vt:lpstr>Volatility clustering — why GARCH exists</vt:lpstr>
      <vt:lpstr>GARCH — reading the formula</vt:lpstr>
      <vt:lpstr>GARCH on one window, step by step</vt:lpstr>
      <vt:lpstr>GARCH: minimal pattern</vt:lpstr>
      <vt:lpstr>Hybrid Model — GARCH + Neural Net</vt:lpstr>
      <vt:lpstr>Residual fitting: the technique</vt:lpstr>
      <vt:lpstr>Residual fitting: a worked mini-example</vt:lpstr>
      <vt:lpstr>Why hybridize instead of “just use a bigger NN”</vt:lpstr>
      <vt:lpstr>Hybrid architecture</vt:lpstr>
      <vt:lpstr>Why an LSTM (or small MLP) for the residual stage</vt:lpstr>
      <vt:lpstr>Hybrid: minimal pattern</vt:lpstr>
      <vt:lpstr>Evaluating the hybrid fairly</vt:lpstr>
      <vt:lpstr>When to reach for which tool</vt:lpstr>
      <vt:lpstr>Model comparison at a glance</vt:lpstr>
      <vt:lpstr>Results on held-out windows</vt:lpstr>
      <vt:lpstr>The one rule that matters more than any model choice</vt:lpstr>
      <vt:lpstr>Thanks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Forecasting on Order Book Data</dc:title>
  <dc:subject>PptxGenJS Presentation</dc:subject>
  <dc:creator>IITG.AI</dc:creator>
  <cp:lastModifiedBy>Sarvesh Joshi</cp:lastModifiedBy>
  <cp:revision>5</cp:revision>
  <dcterms:created xsi:type="dcterms:W3CDTF">2026-10-02T18:28:52Z</dcterms:created>
  <dcterms:modified xsi:type="dcterms:W3CDTF">2026-10-03T17:15:11Z</dcterms:modified>
</cp:coreProperties>
</file>